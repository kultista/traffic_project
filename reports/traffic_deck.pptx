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9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2A7724-9BD5-6B88-F3A1-D36F8875DA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36CCE60-EB05-5FD5-3C62-6AC01D7C80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1A68D89B-19D3-2823-3D79-D58F4F6D8F23}"/>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E924E9D2-D109-2279-D01D-078BA32CFC4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53DC0F0-80E1-9B76-DD02-7802E6C619C8}"/>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209635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FAF590-9C7B-7410-0E7A-13F8D12E21E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376AAE7-F08E-97D2-938D-6456B1D2D46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F4A9B1A-C72A-4FC1-D245-65CC21EE55B8}"/>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DEC56378-6F7C-EA9F-93B9-07B1E425BCD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EE4ED18-B5DB-B194-D356-15116D8FA816}"/>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702333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6800E2-D21F-66AF-72C0-42C36CB1BE0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FCF37DD-3D71-371D-4C1C-2A9D382E08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DA367CE8-7FC1-A26E-79A9-6DD5F249B6C9}"/>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48809FA5-3FD9-577D-4C24-190A313248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C9EC33B-9653-39DF-7C0C-F924FD40174F}"/>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515882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E5628D0-BB55-621F-7AE9-AE816597CAD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82A2AA3-A859-7ED7-D384-20799BC1E43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AF347CB-6778-EE21-1F5E-553F5A94F9A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2A775C5-552D-C08C-D25C-A9C32EB88D19}"/>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6" name="Segnaposto piè di pagina 5">
            <a:extLst>
              <a:ext uri="{FF2B5EF4-FFF2-40B4-BE49-F238E27FC236}">
                <a16:creationId xmlns:a16="http://schemas.microsoft.com/office/drawing/2014/main" id="{B1388925-0ECD-7CDD-274C-E00C393A236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71D0619-2710-9018-60A4-CFEC23F5E8D6}"/>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2836296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328CCFC-7DF2-129C-5933-BCF2C53E1222}"/>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B138CE2-87B1-7E34-CCF2-72D4B71E3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7B460928-75C6-47D3-BEEA-84FF523A4C4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5DEB208-FD28-63A0-1B61-A1DCD5D44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34EEBBD4-1133-9C50-0CF6-6BAA2D76C4D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5B3FF68F-645F-7299-D2F0-37EBAC0FD56C}"/>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8" name="Segnaposto piè di pagina 7">
            <a:extLst>
              <a:ext uri="{FF2B5EF4-FFF2-40B4-BE49-F238E27FC236}">
                <a16:creationId xmlns:a16="http://schemas.microsoft.com/office/drawing/2014/main" id="{86E01784-BADC-EEA0-97E9-4579B273272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6EAD55BE-2525-C75B-4A0A-1A9DABE20CD6}"/>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2569626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120021-50A3-A424-F5C6-4D06ED0717E7}"/>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B9B604C-50F1-00A5-D2F9-14FFEEF5CC17}"/>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4" name="Segnaposto piè di pagina 3">
            <a:extLst>
              <a:ext uri="{FF2B5EF4-FFF2-40B4-BE49-F238E27FC236}">
                <a16:creationId xmlns:a16="http://schemas.microsoft.com/office/drawing/2014/main" id="{1C7D581D-0789-D7D2-9D34-16F5A688373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C2621A34-41DF-6DB1-3F7E-A2DE78FD8267}"/>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3656132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3081F8DD-757E-2BF0-0652-0A23F5A4ABE5}"/>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3" name="Segnaposto piè di pagina 2">
            <a:extLst>
              <a:ext uri="{FF2B5EF4-FFF2-40B4-BE49-F238E27FC236}">
                <a16:creationId xmlns:a16="http://schemas.microsoft.com/office/drawing/2014/main" id="{88D9F72E-C016-5761-38BD-C6631FA8D755}"/>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0DA1F876-7E10-6A4C-4A8C-30D730811A1D}"/>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318403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3F78BA-15C0-425D-5492-70FFD9C1F27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A3DABE0-CCC7-32D1-C144-1155B95071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A912A42-1A12-C36B-BA50-8B2CA6748D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403F295-D004-F330-4AF0-7988169FB062}"/>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6" name="Segnaposto piè di pagina 5">
            <a:extLst>
              <a:ext uri="{FF2B5EF4-FFF2-40B4-BE49-F238E27FC236}">
                <a16:creationId xmlns:a16="http://schemas.microsoft.com/office/drawing/2014/main" id="{DF6622F9-F114-9EDC-C94C-98CD4A4C5C7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E148456-ED56-EAE9-BC13-4E7D78604998}"/>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235190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76B736-9E79-B639-69A2-FBB451AA2D6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8FDE4542-4AB3-6203-CB34-7F1F7F5C388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40B5B5F5-600F-739D-F622-1A55528B11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1A48C28-1C46-2B07-B020-93C3AEA42228}"/>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6" name="Segnaposto piè di pagina 5">
            <a:extLst>
              <a:ext uri="{FF2B5EF4-FFF2-40B4-BE49-F238E27FC236}">
                <a16:creationId xmlns:a16="http://schemas.microsoft.com/office/drawing/2014/main" id="{4DACF065-630D-F636-E134-2FC03FD762B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4CECD6C-ECDB-79CA-F2F0-7C0C4FB4ED21}"/>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2598049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1E69D5-02D8-E3FA-EC4C-1C4CE9F8FDBE}"/>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E7AD1DB-09E9-3A66-460C-DD77E8EC8074}"/>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9C47D20-B5AF-9741-7A38-CC2260E4C7A3}"/>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6BF26A0B-69F3-5AAF-8DD3-DD0E5F97509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436E982-7AB1-9D90-9166-70C7121C4803}"/>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3151787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458F1F44-54BF-1AFD-0582-39A3D830BEB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BEA8C59-57AA-1C6B-4DD5-1C62928A321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47E609E-7007-BD66-E0D0-8AB99B900285}"/>
              </a:ext>
            </a:extLst>
          </p:cNvPr>
          <p:cNvSpPr>
            <a:spLocks noGrp="1"/>
          </p:cNvSpPr>
          <p:nvPr>
            <p:ph type="dt" sz="half" idx="10"/>
          </p:nvPr>
        </p:nvSpPr>
        <p:spPr/>
        <p:txBody>
          <a:body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1404FF78-FE76-E4DC-C675-E1831F52F12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1485F31-D012-16FA-0977-E127B2945362}"/>
              </a:ext>
            </a:extLst>
          </p:cNvPr>
          <p:cNvSpPr>
            <a:spLocks noGrp="1"/>
          </p:cNvSpPr>
          <p:nvPr>
            <p:ph type="sldNum" sz="quarter" idx="12"/>
          </p:nvPr>
        </p:nvSpPr>
        <p:spPr/>
        <p:txBody>
          <a:bodyPr/>
          <a:lstStyle/>
          <a:p>
            <a:fld id="{E98CABBD-D7D1-4A65-97D6-65B356898431}" type="slidenum">
              <a:rPr lang="it-IT" smtClean="0"/>
              <a:t>‹N›</a:t>
            </a:fld>
            <a:endParaRPr lang="it-IT"/>
          </a:p>
        </p:txBody>
      </p:sp>
    </p:spTree>
    <p:extLst>
      <p:ext uri="{BB962C8B-B14F-4D97-AF65-F5344CB8AC3E}">
        <p14:creationId xmlns:p14="http://schemas.microsoft.com/office/powerpoint/2010/main" val="3626289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E0B909D-215A-0AD2-BBD3-43CB95F96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2484B2B-60FD-2509-0679-61561FA101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E6F3663-1B5D-6E27-3F5D-9345977579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9F8F57-523D-4BB6-896A-39E34CA88FBB}" type="datetimeFigureOut">
              <a:rPr lang="it-IT" smtClean="0"/>
              <a:t>17/10/2026</a:t>
            </a:fld>
            <a:endParaRPr lang="it-IT"/>
          </a:p>
        </p:txBody>
      </p:sp>
      <p:sp>
        <p:nvSpPr>
          <p:cNvPr id="5" name="Segnaposto piè di pagina 4">
            <a:extLst>
              <a:ext uri="{FF2B5EF4-FFF2-40B4-BE49-F238E27FC236}">
                <a16:creationId xmlns:a16="http://schemas.microsoft.com/office/drawing/2014/main" id="{B0F9E99E-4C62-3C9F-BC43-47DB102700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AC491FC1-AB60-09D9-FFD5-F15BD7C8AC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8CABBD-D7D1-4A65-97D6-65B356898431}" type="slidenum">
              <a:rPr lang="it-IT" smtClean="0"/>
              <a:t>‹N›</a:t>
            </a:fld>
            <a:endParaRPr lang="it-IT"/>
          </a:p>
        </p:txBody>
      </p:sp>
    </p:spTree>
    <p:extLst>
      <p:ext uri="{BB962C8B-B14F-4D97-AF65-F5344CB8AC3E}">
        <p14:creationId xmlns:p14="http://schemas.microsoft.com/office/powerpoint/2010/main" val="65466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istat.it/it/files/2012/10/nota_metodologica_e-_-glossario_anno_2011.pdf"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7B6DE464-6B80-0CC7-1FCB-D40F1BAA37DE}"/>
              </a:ext>
            </a:extLst>
          </p:cNvPr>
          <p:cNvSpPr txBox="1"/>
          <p:nvPr/>
        </p:nvSpPr>
        <p:spPr>
          <a:xfrm>
            <a:off x="3046828" y="362059"/>
            <a:ext cx="6098344" cy="400110"/>
          </a:xfrm>
          <a:prstGeom prst="rect">
            <a:avLst/>
          </a:prstGeom>
          <a:noFill/>
        </p:spPr>
        <p:txBody>
          <a:bodyPr wrap="square">
            <a:spAutoFit/>
          </a:bodyPr>
          <a:lstStyle/>
          <a:p>
            <a:pPr algn="ctr"/>
            <a:r>
              <a:rPr lang="it-IT" sz="2000" b="1" i="0" spc="225" dirty="0">
                <a:solidFill>
                  <a:schemeClr val="tx1">
                    <a:lumMod val="65000"/>
                    <a:lumOff val="35000"/>
                  </a:schemeClr>
                </a:solidFill>
                <a:effectLst/>
                <a:latin typeface="+mn-lt"/>
              </a:rPr>
              <a:t>THE PROBLEM</a:t>
            </a:r>
            <a:endParaRPr lang="it-IT" sz="2000" dirty="0">
              <a:solidFill>
                <a:schemeClr val="tx1">
                  <a:lumMod val="65000"/>
                  <a:lumOff val="35000"/>
                </a:schemeClr>
              </a:solidFill>
            </a:endParaRPr>
          </a:p>
        </p:txBody>
      </p:sp>
      <p:sp>
        <p:nvSpPr>
          <p:cNvPr id="7" name="CasellaDiTesto 6">
            <a:extLst>
              <a:ext uri="{FF2B5EF4-FFF2-40B4-BE49-F238E27FC236}">
                <a16:creationId xmlns:a16="http://schemas.microsoft.com/office/drawing/2014/main" id="{4B3B1D6D-7EAB-A40B-5C28-6EA19DEB8785}"/>
              </a:ext>
            </a:extLst>
          </p:cNvPr>
          <p:cNvSpPr txBox="1"/>
          <p:nvPr/>
        </p:nvSpPr>
        <p:spPr>
          <a:xfrm>
            <a:off x="3046828" y="833296"/>
            <a:ext cx="6098344" cy="1077218"/>
          </a:xfrm>
          <a:prstGeom prst="rect">
            <a:avLst/>
          </a:prstGeom>
          <a:noFill/>
        </p:spPr>
        <p:txBody>
          <a:bodyPr wrap="square">
            <a:spAutoFit/>
          </a:bodyPr>
          <a:lstStyle/>
          <a:p>
            <a:pPr algn="ctr"/>
            <a:r>
              <a:rPr lang="it-IT" sz="3200" b="1" i="0" dirty="0" err="1">
                <a:solidFill>
                  <a:schemeClr val="accent2">
                    <a:lumMod val="50000"/>
                  </a:schemeClr>
                </a:solidFill>
                <a:effectLst/>
                <a:latin typeface="+mn-lt"/>
              </a:rPr>
              <a:t>Where</a:t>
            </a:r>
            <a:r>
              <a:rPr lang="it-IT" sz="3200" b="1" i="0" dirty="0">
                <a:solidFill>
                  <a:schemeClr val="accent2">
                    <a:lumMod val="50000"/>
                  </a:schemeClr>
                </a:solidFill>
                <a:effectLst/>
                <a:latin typeface="+mn-lt"/>
              </a:rPr>
              <a:t> </a:t>
            </a:r>
            <a:r>
              <a:rPr lang="it-IT" sz="3200" b="1" i="0" dirty="0" err="1">
                <a:solidFill>
                  <a:schemeClr val="accent2">
                    <a:lumMod val="50000"/>
                  </a:schemeClr>
                </a:solidFill>
                <a:effectLst/>
                <a:latin typeface="+mn-lt"/>
              </a:rPr>
              <a:t>should</a:t>
            </a:r>
            <a:r>
              <a:rPr lang="it-IT" sz="3200" b="1" i="0" dirty="0">
                <a:solidFill>
                  <a:schemeClr val="accent2">
                    <a:lumMod val="50000"/>
                  </a:schemeClr>
                </a:solidFill>
                <a:effectLst/>
                <a:latin typeface="+mn-lt"/>
              </a:rPr>
              <a:t> road-</a:t>
            </a:r>
            <a:r>
              <a:rPr lang="it-IT" sz="3200" b="1" i="0" dirty="0" err="1">
                <a:solidFill>
                  <a:schemeClr val="accent2">
                    <a:lumMod val="50000"/>
                  </a:schemeClr>
                </a:solidFill>
                <a:effectLst/>
                <a:latin typeface="+mn-lt"/>
              </a:rPr>
              <a:t>safety</a:t>
            </a:r>
            <a:r>
              <a:rPr lang="it-IT" sz="3200" b="1" i="0" dirty="0">
                <a:solidFill>
                  <a:schemeClr val="accent2">
                    <a:lumMod val="50000"/>
                  </a:schemeClr>
                </a:solidFill>
                <a:effectLst/>
                <a:latin typeface="+mn-lt"/>
              </a:rPr>
              <a:t> investment go in Italy?</a:t>
            </a:r>
            <a:endParaRPr lang="it-IT" sz="3200" dirty="0">
              <a:solidFill>
                <a:schemeClr val="accent2">
                  <a:lumMod val="50000"/>
                </a:schemeClr>
              </a:solidFill>
            </a:endParaRPr>
          </a:p>
        </p:txBody>
      </p:sp>
      <p:sp>
        <p:nvSpPr>
          <p:cNvPr id="9" name="CasellaDiTesto 8">
            <a:extLst>
              <a:ext uri="{FF2B5EF4-FFF2-40B4-BE49-F238E27FC236}">
                <a16:creationId xmlns:a16="http://schemas.microsoft.com/office/drawing/2014/main" id="{C4296FE7-676E-7DA6-2E50-2E143EA92C59}"/>
              </a:ext>
            </a:extLst>
          </p:cNvPr>
          <p:cNvSpPr txBox="1"/>
          <p:nvPr/>
        </p:nvSpPr>
        <p:spPr>
          <a:xfrm>
            <a:off x="835855" y="2937998"/>
            <a:ext cx="4270717" cy="369332"/>
          </a:xfrm>
          <a:prstGeom prst="rect">
            <a:avLst/>
          </a:prstGeom>
          <a:noFill/>
        </p:spPr>
        <p:txBody>
          <a:bodyPr wrap="square">
            <a:spAutoFit/>
          </a:bodyPr>
          <a:lstStyle/>
          <a:p>
            <a:r>
              <a:rPr lang="it-IT" sz="1800" b="1" i="0" spc="225" dirty="0">
                <a:solidFill>
                  <a:schemeClr val="accent2">
                    <a:lumMod val="50000"/>
                  </a:schemeClr>
                </a:solidFill>
                <a:effectLst/>
                <a:latin typeface="+mn-lt"/>
              </a:rPr>
              <a:t>The Client</a:t>
            </a:r>
            <a:endParaRPr lang="it-IT" dirty="0">
              <a:solidFill>
                <a:schemeClr val="accent2">
                  <a:lumMod val="50000"/>
                </a:schemeClr>
              </a:solidFill>
            </a:endParaRPr>
          </a:p>
        </p:txBody>
      </p:sp>
      <p:sp>
        <p:nvSpPr>
          <p:cNvPr id="11" name="CasellaDiTesto 10">
            <a:extLst>
              <a:ext uri="{FF2B5EF4-FFF2-40B4-BE49-F238E27FC236}">
                <a16:creationId xmlns:a16="http://schemas.microsoft.com/office/drawing/2014/main" id="{EFAA3183-F446-9D1D-C0D8-8271DD1AE462}"/>
              </a:ext>
            </a:extLst>
          </p:cNvPr>
          <p:cNvSpPr txBox="1"/>
          <p:nvPr/>
        </p:nvSpPr>
        <p:spPr>
          <a:xfrm>
            <a:off x="835856" y="3290962"/>
            <a:ext cx="4270715" cy="738664"/>
          </a:xfrm>
          <a:prstGeom prst="rect">
            <a:avLst/>
          </a:prstGeom>
          <a:noFill/>
        </p:spPr>
        <p:txBody>
          <a:bodyPr wrap="square">
            <a:spAutoFit/>
          </a:bodyPr>
          <a:lstStyle/>
          <a:p>
            <a:r>
              <a:rPr lang="it-IT" sz="1400" b="0" i="0" dirty="0">
                <a:solidFill>
                  <a:schemeClr val="tx1"/>
                </a:solidFill>
                <a:effectLst/>
                <a:latin typeface="+mn-lt"/>
              </a:rPr>
              <a:t>A </a:t>
            </a:r>
            <a:r>
              <a:rPr lang="it-IT" sz="1400" b="0" i="0" dirty="0" err="1">
                <a:solidFill>
                  <a:schemeClr val="tx1"/>
                </a:solidFill>
                <a:effectLst/>
                <a:latin typeface="+mn-lt"/>
              </a:rPr>
              <a:t>traffic</a:t>
            </a:r>
            <a:r>
              <a:rPr lang="it-IT" sz="1400" b="0" i="0" dirty="0">
                <a:solidFill>
                  <a:schemeClr val="tx1"/>
                </a:solidFill>
                <a:effectLst/>
                <a:latin typeface="+mn-lt"/>
              </a:rPr>
              <a:t> management or risk-</a:t>
            </a:r>
            <a:r>
              <a:rPr lang="it-IT" sz="1400" b="0" i="0" dirty="0" err="1">
                <a:solidFill>
                  <a:schemeClr val="tx1"/>
                </a:solidFill>
                <a:effectLst/>
                <a:latin typeface="+mn-lt"/>
              </a:rPr>
              <a:t>prevention</a:t>
            </a:r>
            <a:r>
              <a:rPr lang="it-IT" sz="1400" b="0" i="0" dirty="0">
                <a:solidFill>
                  <a:schemeClr val="tx1"/>
                </a:solidFill>
                <a:effectLst/>
                <a:latin typeface="+mn-lt"/>
              </a:rPr>
              <a:t> company </a:t>
            </a:r>
            <a:r>
              <a:rPr lang="it-IT" sz="1400" b="0" i="0" dirty="0" err="1">
                <a:solidFill>
                  <a:schemeClr val="tx1"/>
                </a:solidFill>
                <a:effectLst/>
                <a:latin typeface="+mn-lt"/>
              </a:rPr>
              <a:t>that</a:t>
            </a:r>
            <a:r>
              <a:rPr lang="it-IT" sz="1400" b="0" i="0" dirty="0">
                <a:solidFill>
                  <a:schemeClr val="tx1"/>
                </a:solidFill>
                <a:effectLst/>
                <a:latin typeface="+mn-lt"/>
              </a:rPr>
              <a:t> </a:t>
            </a:r>
            <a:r>
              <a:rPr lang="it-IT" sz="1400" b="0" i="0" dirty="0" err="1">
                <a:solidFill>
                  <a:schemeClr val="tx1"/>
                </a:solidFill>
                <a:effectLst/>
                <a:latin typeface="+mn-lt"/>
              </a:rPr>
              <a:t>seeks</a:t>
            </a:r>
            <a:r>
              <a:rPr lang="it-IT" sz="1400" b="0" i="0" dirty="0">
                <a:solidFill>
                  <a:schemeClr val="tx1"/>
                </a:solidFill>
                <a:effectLst/>
                <a:latin typeface="+mn-lt"/>
              </a:rPr>
              <a:t> an </a:t>
            </a:r>
            <a:r>
              <a:rPr lang="it-IT" sz="1400" b="0" i="0" dirty="0" err="1">
                <a:solidFill>
                  <a:schemeClr val="tx1"/>
                </a:solidFill>
                <a:effectLst/>
                <a:latin typeface="+mn-lt"/>
              </a:rPr>
              <a:t>updated</a:t>
            </a:r>
            <a:r>
              <a:rPr lang="it-IT" sz="1400" b="0" i="0" dirty="0">
                <a:solidFill>
                  <a:schemeClr val="tx1"/>
                </a:solidFill>
                <a:effectLst/>
                <a:latin typeface="+mn-lt"/>
              </a:rPr>
              <a:t> dashboard to help </a:t>
            </a:r>
            <a:r>
              <a:rPr lang="it-IT" sz="1400" b="0" i="0" dirty="0" err="1">
                <a:solidFill>
                  <a:schemeClr val="tx1"/>
                </a:solidFill>
                <a:effectLst/>
                <a:latin typeface="+mn-lt"/>
              </a:rPr>
              <a:t>choosing</a:t>
            </a:r>
            <a:r>
              <a:rPr lang="it-IT" sz="1400" b="0" i="0" dirty="0">
                <a:solidFill>
                  <a:schemeClr val="tx1"/>
                </a:solidFill>
                <a:effectLst/>
                <a:latin typeface="+mn-lt"/>
              </a:rPr>
              <a:t> the best </a:t>
            </a:r>
            <a:r>
              <a:rPr lang="it-IT" sz="1400" b="0" i="0" dirty="0" err="1">
                <a:solidFill>
                  <a:schemeClr val="tx1"/>
                </a:solidFill>
                <a:effectLst/>
                <a:latin typeface="+mn-lt"/>
              </a:rPr>
              <a:t>areas</a:t>
            </a:r>
            <a:r>
              <a:rPr lang="it-IT" sz="1400" b="0" i="0" dirty="0">
                <a:solidFill>
                  <a:schemeClr val="tx1"/>
                </a:solidFill>
                <a:effectLst/>
                <a:latin typeface="+mn-lt"/>
              </a:rPr>
              <a:t> to </a:t>
            </a:r>
            <a:r>
              <a:rPr lang="it-IT" sz="1400" b="0" i="0" dirty="0" err="1">
                <a:solidFill>
                  <a:schemeClr val="tx1"/>
                </a:solidFill>
                <a:effectLst/>
                <a:latin typeface="+mn-lt"/>
              </a:rPr>
              <a:t>invest</a:t>
            </a:r>
            <a:r>
              <a:rPr lang="it-IT" sz="1400" b="0" i="0" dirty="0">
                <a:solidFill>
                  <a:schemeClr val="tx1"/>
                </a:solidFill>
                <a:effectLst/>
                <a:latin typeface="+mn-lt"/>
              </a:rPr>
              <a:t> in.</a:t>
            </a:r>
            <a:endParaRPr lang="it-IT" sz="1400" dirty="0"/>
          </a:p>
        </p:txBody>
      </p:sp>
      <p:sp>
        <p:nvSpPr>
          <p:cNvPr id="13" name="CasellaDiTesto 12">
            <a:extLst>
              <a:ext uri="{FF2B5EF4-FFF2-40B4-BE49-F238E27FC236}">
                <a16:creationId xmlns:a16="http://schemas.microsoft.com/office/drawing/2014/main" id="{1755876A-3284-A7F8-F3B0-F38A5FEC29E6}"/>
              </a:ext>
            </a:extLst>
          </p:cNvPr>
          <p:cNvSpPr txBox="1"/>
          <p:nvPr/>
        </p:nvSpPr>
        <p:spPr>
          <a:xfrm>
            <a:off x="835855" y="4658836"/>
            <a:ext cx="4270717" cy="369332"/>
          </a:xfrm>
          <a:prstGeom prst="rect">
            <a:avLst/>
          </a:prstGeom>
          <a:noFill/>
        </p:spPr>
        <p:txBody>
          <a:bodyPr wrap="square">
            <a:spAutoFit/>
          </a:bodyPr>
          <a:lstStyle/>
          <a:p>
            <a:r>
              <a:rPr lang="it-IT" sz="1800" b="1" i="0" spc="225" dirty="0">
                <a:solidFill>
                  <a:schemeClr val="accent2">
                    <a:lumMod val="50000"/>
                  </a:schemeClr>
                </a:solidFill>
                <a:effectLst/>
                <a:latin typeface="+mn-lt"/>
              </a:rPr>
              <a:t>The Data Sources</a:t>
            </a:r>
            <a:endParaRPr lang="it-IT" dirty="0">
              <a:solidFill>
                <a:schemeClr val="accent2">
                  <a:lumMod val="50000"/>
                </a:schemeClr>
              </a:solidFill>
            </a:endParaRPr>
          </a:p>
        </p:txBody>
      </p:sp>
      <p:sp>
        <p:nvSpPr>
          <p:cNvPr id="15" name="CasellaDiTesto 14">
            <a:extLst>
              <a:ext uri="{FF2B5EF4-FFF2-40B4-BE49-F238E27FC236}">
                <a16:creationId xmlns:a16="http://schemas.microsoft.com/office/drawing/2014/main" id="{3F12BCB6-2303-C9F9-13DB-1FC886B4A21F}"/>
              </a:ext>
            </a:extLst>
          </p:cNvPr>
          <p:cNvSpPr txBox="1"/>
          <p:nvPr/>
        </p:nvSpPr>
        <p:spPr>
          <a:xfrm>
            <a:off x="835854" y="4997390"/>
            <a:ext cx="4270717" cy="738664"/>
          </a:xfrm>
          <a:prstGeom prst="rect">
            <a:avLst/>
          </a:prstGeom>
          <a:noFill/>
        </p:spPr>
        <p:txBody>
          <a:bodyPr wrap="square">
            <a:spAutoFit/>
          </a:bodyPr>
          <a:lstStyle/>
          <a:p>
            <a:r>
              <a:rPr lang="it-IT" sz="1400" b="0" i="0" dirty="0">
                <a:solidFill>
                  <a:schemeClr val="tx1"/>
                </a:solidFill>
                <a:effectLst/>
                <a:latin typeface="+mn-lt"/>
              </a:rPr>
              <a:t>ISTAT public </a:t>
            </a:r>
            <a:r>
              <a:rPr lang="it-IT" sz="1400" b="0" i="0" dirty="0" err="1">
                <a:solidFill>
                  <a:schemeClr val="tx1"/>
                </a:solidFill>
                <a:effectLst/>
                <a:latin typeface="+mn-lt"/>
              </a:rPr>
              <a:t>aviable</a:t>
            </a:r>
            <a:r>
              <a:rPr lang="it-IT" sz="1400" b="0" i="0" dirty="0">
                <a:solidFill>
                  <a:schemeClr val="tx1"/>
                </a:solidFill>
                <a:effectLst/>
                <a:latin typeface="+mn-lt"/>
              </a:rPr>
              <a:t> data, </a:t>
            </a:r>
            <a:r>
              <a:rPr lang="it-IT" sz="1400" b="0" i="0" dirty="0" err="1">
                <a:solidFill>
                  <a:schemeClr val="tx1"/>
                </a:solidFill>
                <a:effectLst/>
                <a:latin typeface="+mn-lt"/>
              </a:rPr>
              <a:t>accessible</a:t>
            </a:r>
            <a:r>
              <a:rPr lang="it-IT" sz="1400" b="0" i="0" dirty="0">
                <a:solidFill>
                  <a:schemeClr val="tx1"/>
                </a:solidFill>
                <a:effectLst/>
                <a:latin typeface="+mn-lt"/>
              </a:rPr>
              <a:t> via SITUAS </a:t>
            </a:r>
            <a:r>
              <a:rPr lang="it-IT" sz="1400" b="0" i="0" dirty="0" err="1">
                <a:solidFill>
                  <a:schemeClr val="tx1"/>
                </a:solidFill>
                <a:effectLst/>
                <a:latin typeface="+mn-lt"/>
              </a:rPr>
              <a:t>detailing</a:t>
            </a:r>
            <a:r>
              <a:rPr lang="it-IT" sz="1400" b="0" i="0" dirty="0">
                <a:solidFill>
                  <a:schemeClr val="tx1"/>
                </a:solidFill>
                <a:effectLst/>
                <a:latin typeface="+mn-lt"/>
              </a:rPr>
              <a:t> </a:t>
            </a:r>
            <a:r>
              <a:rPr lang="it-IT" sz="1400" b="0" i="0" dirty="0" err="1">
                <a:solidFill>
                  <a:schemeClr val="tx1"/>
                </a:solidFill>
                <a:effectLst/>
                <a:latin typeface="+mn-lt"/>
              </a:rPr>
              <a:t>incidents</a:t>
            </a:r>
            <a:r>
              <a:rPr lang="it-IT" sz="1400" b="0" i="0" dirty="0">
                <a:solidFill>
                  <a:schemeClr val="tx1"/>
                </a:solidFill>
                <a:effectLst/>
                <a:latin typeface="+mn-lt"/>
              </a:rPr>
              <a:t> </a:t>
            </a:r>
            <a:r>
              <a:rPr lang="it-IT" sz="1400" b="0" i="0" dirty="0" err="1">
                <a:solidFill>
                  <a:schemeClr val="tx1"/>
                </a:solidFill>
                <a:effectLst/>
                <a:latin typeface="+mn-lt"/>
              </a:rPr>
              <a:t>involving</a:t>
            </a:r>
            <a:r>
              <a:rPr lang="it-IT" sz="1400" b="0" i="0" dirty="0">
                <a:solidFill>
                  <a:schemeClr val="tx1"/>
                </a:solidFill>
                <a:effectLst/>
                <a:latin typeface="+mn-lt"/>
              </a:rPr>
              <a:t> </a:t>
            </a:r>
            <a:r>
              <a:rPr lang="it-IT" sz="1400" b="0" i="0" dirty="0" err="1">
                <a:solidFill>
                  <a:schemeClr val="tx1"/>
                </a:solidFill>
                <a:effectLst/>
                <a:latin typeface="+mn-lt"/>
              </a:rPr>
              <a:t>at</a:t>
            </a:r>
            <a:r>
              <a:rPr lang="it-IT" sz="1400" b="0" i="0" dirty="0">
                <a:solidFill>
                  <a:schemeClr val="tx1"/>
                </a:solidFill>
                <a:effectLst/>
                <a:latin typeface="+mn-lt"/>
              </a:rPr>
              <a:t> </a:t>
            </a:r>
            <a:r>
              <a:rPr lang="it-IT" sz="1400" b="0" i="0" dirty="0" err="1">
                <a:solidFill>
                  <a:schemeClr val="tx1"/>
                </a:solidFill>
                <a:effectLst/>
                <a:latin typeface="+mn-lt"/>
              </a:rPr>
              <a:t>least</a:t>
            </a:r>
            <a:r>
              <a:rPr lang="it-IT" sz="1400" b="0" i="0" dirty="0">
                <a:solidFill>
                  <a:schemeClr val="tx1"/>
                </a:solidFill>
                <a:effectLst/>
                <a:latin typeface="+mn-lt"/>
              </a:rPr>
              <a:t> 1 </a:t>
            </a:r>
            <a:r>
              <a:rPr lang="it-IT" sz="1400" b="0" i="0" dirty="0" err="1">
                <a:solidFill>
                  <a:schemeClr val="tx1"/>
                </a:solidFill>
                <a:effectLst/>
                <a:latin typeface="+mn-lt"/>
              </a:rPr>
              <a:t>injured</a:t>
            </a:r>
            <a:r>
              <a:rPr lang="it-IT" sz="1400" b="0" i="0" dirty="0">
                <a:solidFill>
                  <a:schemeClr val="tx1"/>
                </a:solidFill>
                <a:effectLst/>
                <a:latin typeface="+mn-lt"/>
              </a:rPr>
              <a:t> or </a:t>
            </a:r>
            <a:r>
              <a:rPr lang="it-IT" sz="1400" b="0" i="0" dirty="0" err="1">
                <a:solidFill>
                  <a:schemeClr val="tx1"/>
                </a:solidFill>
                <a:effectLst/>
                <a:latin typeface="+mn-lt"/>
              </a:rPr>
              <a:t>killed</a:t>
            </a:r>
            <a:r>
              <a:rPr lang="it-IT" sz="1400" b="0" i="0" dirty="0">
                <a:solidFill>
                  <a:schemeClr val="tx1"/>
                </a:solidFill>
                <a:effectLst/>
                <a:latin typeface="+mn-lt"/>
              </a:rPr>
              <a:t> </a:t>
            </a:r>
            <a:r>
              <a:rPr lang="it-IT" sz="1400" b="0" i="0" dirty="0" err="1">
                <a:solidFill>
                  <a:schemeClr val="tx1"/>
                </a:solidFill>
                <a:effectLst/>
                <a:latin typeface="+mn-lt"/>
              </a:rPr>
              <a:t>person</a:t>
            </a:r>
            <a:r>
              <a:rPr lang="it-IT" sz="1400" dirty="0"/>
              <a:t> from 2001 to 2024.</a:t>
            </a:r>
          </a:p>
        </p:txBody>
      </p:sp>
      <p:sp>
        <p:nvSpPr>
          <p:cNvPr id="21" name="Rettangolo con angoli arrotondati 20">
            <a:extLst>
              <a:ext uri="{FF2B5EF4-FFF2-40B4-BE49-F238E27FC236}">
                <a16:creationId xmlns:a16="http://schemas.microsoft.com/office/drawing/2014/main" id="{4CFAE960-DD61-C4DE-2C3F-26009F006794}"/>
              </a:ext>
            </a:extLst>
          </p:cNvPr>
          <p:cNvSpPr/>
          <p:nvPr/>
        </p:nvSpPr>
        <p:spPr>
          <a:xfrm>
            <a:off x="6297050" y="2811389"/>
            <a:ext cx="4852184" cy="3430901"/>
          </a:xfrm>
          <a:prstGeom prst="roundRect">
            <a:avLst>
              <a:gd name="adj" fmla="val 10517"/>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a:solidFill>
                  <a:schemeClr val="tx1"/>
                </a:solidFill>
              </a:rPr>
              <a:t>Tools </a:t>
            </a:r>
            <a:r>
              <a:rPr lang="it-IT" sz="1400" b="1" dirty="0" err="1">
                <a:solidFill>
                  <a:schemeClr val="tx1"/>
                </a:solidFill>
              </a:rPr>
              <a:t>used</a:t>
            </a:r>
            <a:r>
              <a:rPr lang="it-IT" sz="1400" b="1" dirty="0">
                <a:solidFill>
                  <a:schemeClr val="tx1"/>
                </a:solidFill>
              </a:rPr>
              <a:t> - Python</a:t>
            </a:r>
          </a:p>
          <a:p>
            <a:pPr marL="285750" indent="-285750">
              <a:buFont typeface="Arial" panose="020B0604020202020204" pitchFamily="34" charset="0"/>
              <a:buChar char="•"/>
            </a:pPr>
            <a:r>
              <a:rPr lang="en-US" sz="1400" b="1" dirty="0">
                <a:solidFill>
                  <a:schemeClr val="tx1"/>
                </a:solidFill>
              </a:rPr>
              <a:t>requests, </a:t>
            </a:r>
            <a:r>
              <a:rPr lang="en-US" sz="1400" b="1" dirty="0" err="1">
                <a:solidFill>
                  <a:schemeClr val="tx1"/>
                </a:solidFill>
              </a:rPr>
              <a:t>os</a:t>
            </a:r>
            <a:r>
              <a:rPr lang="en-US" sz="1400" dirty="0">
                <a:solidFill>
                  <a:schemeClr val="tx1"/>
                </a:solidFill>
              </a:rPr>
              <a:t>: data from APIs, file/folder manipulation</a:t>
            </a:r>
            <a:endParaRPr lang="en-US" sz="1400" b="1" dirty="0">
              <a:solidFill>
                <a:schemeClr val="tx1"/>
              </a:solidFill>
            </a:endParaRPr>
          </a:p>
          <a:p>
            <a:pPr marL="285750" indent="-285750">
              <a:buFont typeface="Arial" panose="020B0604020202020204" pitchFamily="34" charset="0"/>
              <a:buChar char="•"/>
            </a:pPr>
            <a:r>
              <a:rPr lang="en-US" sz="1400" b="1" dirty="0">
                <a:solidFill>
                  <a:schemeClr val="tx1"/>
                </a:solidFill>
              </a:rPr>
              <a:t>pandas</a:t>
            </a:r>
            <a:r>
              <a:rPr lang="en-US" sz="1400" dirty="0">
                <a:solidFill>
                  <a:schemeClr val="tx1"/>
                </a:solidFill>
              </a:rPr>
              <a:t>: cleaning, pivot, merge, aggregation</a:t>
            </a:r>
          </a:p>
          <a:p>
            <a:pPr marL="285750" indent="-285750">
              <a:buFont typeface="Arial" panose="020B0604020202020204" pitchFamily="34" charset="0"/>
              <a:buChar char="•"/>
            </a:pPr>
            <a:r>
              <a:rPr lang="en-US" sz="1400" b="1" dirty="0" err="1">
                <a:solidFill>
                  <a:schemeClr val="tx1"/>
                </a:solidFill>
              </a:rPr>
              <a:t>numpy</a:t>
            </a:r>
            <a:r>
              <a:rPr lang="en-US" sz="1400" dirty="0">
                <a:solidFill>
                  <a:schemeClr val="tx1"/>
                </a:solidFill>
              </a:rPr>
              <a:t>: metrics and log scales</a:t>
            </a:r>
          </a:p>
          <a:p>
            <a:pPr marL="285750" indent="-285750">
              <a:buFont typeface="Arial" panose="020B0604020202020204" pitchFamily="34" charset="0"/>
              <a:buChar char="•"/>
            </a:pPr>
            <a:r>
              <a:rPr lang="en-US" sz="1400" b="1" dirty="0">
                <a:solidFill>
                  <a:schemeClr val="tx1"/>
                </a:solidFill>
              </a:rPr>
              <a:t>matplotlib</a:t>
            </a:r>
            <a:r>
              <a:rPr lang="en-US" sz="1400" dirty="0">
                <a:solidFill>
                  <a:schemeClr val="tx1"/>
                </a:solidFill>
              </a:rPr>
              <a:t>, </a:t>
            </a:r>
            <a:r>
              <a:rPr lang="en-US" sz="1400" b="1" dirty="0">
                <a:solidFill>
                  <a:schemeClr val="tx1"/>
                </a:solidFill>
              </a:rPr>
              <a:t>seaborn</a:t>
            </a:r>
            <a:r>
              <a:rPr lang="en-US" sz="1400" dirty="0">
                <a:solidFill>
                  <a:schemeClr val="tx1"/>
                </a:solidFill>
              </a:rPr>
              <a:t>: trends, heatmaps, scatter</a:t>
            </a:r>
          </a:p>
          <a:p>
            <a:pPr marL="285750" indent="-285750">
              <a:buFont typeface="Arial" panose="020B0604020202020204" pitchFamily="34" charset="0"/>
              <a:buChar char="•"/>
            </a:pPr>
            <a:r>
              <a:rPr lang="en-US" sz="1400" b="1" dirty="0" err="1">
                <a:solidFill>
                  <a:schemeClr val="tx1"/>
                </a:solidFill>
              </a:rPr>
              <a:t>scipy</a:t>
            </a:r>
            <a:r>
              <a:rPr lang="en-US" sz="1400" dirty="0">
                <a:solidFill>
                  <a:schemeClr val="tx1"/>
                </a:solidFill>
              </a:rPr>
              <a:t>: k-means clustering</a:t>
            </a:r>
          </a:p>
          <a:p>
            <a:endParaRPr lang="en-US" sz="1400" dirty="0">
              <a:solidFill>
                <a:schemeClr val="tx1"/>
              </a:solidFill>
            </a:endParaRPr>
          </a:p>
          <a:p>
            <a:r>
              <a:rPr lang="it-IT" sz="1400" b="1" dirty="0">
                <a:solidFill>
                  <a:schemeClr val="tx1"/>
                </a:solidFill>
              </a:rPr>
              <a:t>Tools </a:t>
            </a:r>
            <a:r>
              <a:rPr lang="it-IT" sz="1400" b="1" dirty="0" err="1">
                <a:solidFill>
                  <a:schemeClr val="tx1"/>
                </a:solidFill>
              </a:rPr>
              <a:t>used</a:t>
            </a:r>
            <a:r>
              <a:rPr lang="it-IT" sz="1400" b="1" dirty="0">
                <a:solidFill>
                  <a:schemeClr val="tx1"/>
                </a:solidFill>
              </a:rPr>
              <a:t> – </a:t>
            </a:r>
            <a:r>
              <a:rPr lang="it-IT" sz="1400" b="1" dirty="0" err="1">
                <a:solidFill>
                  <a:schemeClr val="tx1"/>
                </a:solidFill>
              </a:rPr>
              <a:t>PowerBI</a:t>
            </a:r>
            <a:endParaRPr lang="it-IT" sz="1400" b="1" dirty="0">
              <a:solidFill>
                <a:schemeClr val="tx1"/>
              </a:solidFill>
            </a:endParaRPr>
          </a:p>
          <a:p>
            <a:pPr marL="285750" indent="-285750">
              <a:buFont typeface="Arial" panose="020B0604020202020204" pitchFamily="34" charset="0"/>
              <a:buChar char="•"/>
            </a:pPr>
            <a:r>
              <a:rPr lang="it-IT" sz="1400" b="1" dirty="0">
                <a:solidFill>
                  <a:schemeClr val="tx1"/>
                </a:solidFill>
              </a:rPr>
              <a:t>DAX</a:t>
            </a:r>
            <a:r>
              <a:rPr lang="it-IT" sz="1400" dirty="0">
                <a:solidFill>
                  <a:schemeClr val="tx1"/>
                </a:solidFill>
              </a:rPr>
              <a:t>: custom </a:t>
            </a:r>
            <a:r>
              <a:rPr lang="it-IT" sz="1400" dirty="0" err="1">
                <a:solidFill>
                  <a:schemeClr val="tx1"/>
                </a:solidFill>
              </a:rPr>
              <a:t>measures</a:t>
            </a:r>
            <a:r>
              <a:rPr lang="it-IT" sz="1400" dirty="0">
                <a:solidFill>
                  <a:schemeClr val="tx1"/>
                </a:solidFill>
              </a:rPr>
              <a:t>, </a:t>
            </a:r>
            <a:r>
              <a:rPr lang="it-IT" sz="1400" dirty="0" err="1">
                <a:solidFill>
                  <a:schemeClr val="tx1"/>
                </a:solidFill>
              </a:rPr>
              <a:t>dynamic</a:t>
            </a:r>
            <a:r>
              <a:rPr lang="it-IT" sz="1400" dirty="0">
                <a:solidFill>
                  <a:schemeClr val="tx1"/>
                </a:solidFill>
              </a:rPr>
              <a:t> </a:t>
            </a:r>
            <a:r>
              <a:rPr lang="it-IT" sz="1400" dirty="0" err="1">
                <a:solidFill>
                  <a:schemeClr val="tx1"/>
                </a:solidFill>
              </a:rPr>
              <a:t>elements</a:t>
            </a:r>
            <a:endParaRPr lang="it-IT" sz="1400" dirty="0">
              <a:solidFill>
                <a:schemeClr val="tx1"/>
              </a:solidFill>
            </a:endParaRPr>
          </a:p>
          <a:p>
            <a:pPr marL="285750" indent="-285750">
              <a:buFont typeface="Arial" panose="020B0604020202020204" pitchFamily="34" charset="0"/>
              <a:buChar char="•"/>
            </a:pPr>
            <a:r>
              <a:rPr lang="it-IT" sz="1400" b="1" dirty="0">
                <a:solidFill>
                  <a:schemeClr val="tx1"/>
                </a:solidFill>
              </a:rPr>
              <a:t>forecast</a:t>
            </a:r>
          </a:p>
          <a:p>
            <a:pPr marL="285750" indent="-285750">
              <a:buFont typeface="Arial" panose="020B0604020202020204" pitchFamily="34" charset="0"/>
              <a:buChar char="•"/>
            </a:pPr>
            <a:r>
              <a:rPr lang="it-IT" sz="1400" b="1" dirty="0" err="1">
                <a:solidFill>
                  <a:schemeClr val="tx1"/>
                </a:solidFill>
              </a:rPr>
              <a:t>parameters</a:t>
            </a:r>
            <a:r>
              <a:rPr lang="it-IT" sz="1400" b="1" dirty="0">
                <a:solidFill>
                  <a:schemeClr val="tx1"/>
                </a:solidFill>
              </a:rPr>
              <a:t>, </a:t>
            </a:r>
            <a:r>
              <a:rPr lang="it-IT" sz="1400" b="1" dirty="0" err="1">
                <a:solidFill>
                  <a:schemeClr val="tx1"/>
                </a:solidFill>
              </a:rPr>
              <a:t>slicer</a:t>
            </a:r>
            <a:r>
              <a:rPr lang="it-IT" sz="1400" b="1" dirty="0">
                <a:solidFill>
                  <a:schemeClr val="tx1"/>
                </a:solidFill>
              </a:rPr>
              <a:t>, filters</a:t>
            </a:r>
            <a:r>
              <a:rPr lang="it-IT" sz="1400" dirty="0">
                <a:solidFill>
                  <a:schemeClr val="tx1"/>
                </a:solidFill>
              </a:rPr>
              <a:t>: full data control by the </a:t>
            </a:r>
            <a:r>
              <a:rPr lang="it-IT" sz="1400" dirty="0" err="1">
                <a:solidFill>
                  <a:schemeClr val="tx1"/>
                </a:solidFill>
              </a:rPr>
              <a:t>final</a:t>
            </a:r>
            <a:r>
              <a:rPr lang="it-IT" sz="1400" dirty="0">
                <a:solidFill>
                  <a:schemeClr val="tx1"/>
                </a:solidFill>
              </a:rPr>
              <a:t> user</a:t>
            </a:r>
          </a:p>
        </p:txBody>
      </p:sp>
    </p:spTree>
    <p:extLst>
      <p:ext uri="{BB962C8B-B14F-4D97-AF65-F5344CB8AC3E}">
        <p14:creationId xmlns:p14="http://schemas.microsoft.com/office/powerpoint/2010/main" val="2415663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54DF-D7CE-94AA-DD96-AA8AB5A0E833}"/>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FDE8A438-2271-8E39-E3F1-2A92A6536501}"/>
              </a:ext>
            </a:extLst>
          </p:cNvPr>
          <p:cNvSpPr txBox="1"/>
          <p:nvPr/>
        </p:nvSpPr>
        <p:spPr>
          <a:xfrm>
            <a:off x="835854" y="462214"/>
            <a:ext cx="8309318" cy="307777"/>
          </a:xfrm>
          <a:prstGeom prst="rect">
            <a:avLst/>
          </a:prstGeom>
          <a:noFill/>
        </p:spPr>
        <p:txBody>
          <a:bodyPr wrap="square">
            <a:spAutoFit/>
          </a:bodyPr>
          <a:lstStyle/>
          <a:p>
            <a:r>
              <a:rPr lang="it-IT" sz="1400" b="1" dirty="0" err="1">
                <a:solidFill>
                  <a:schemeClr val="accent2">
                    <a:lumMod val="50000"/>
                  </a:schemeClr>
                </a:solidFill>
                <a:effectLst/>
                <a:latin typeface="+mn-lt"/>
              </a:rPr>
              <a:t>Where</a:t>
            </a:r>
            <a:r>
              <a:rPr lang="it-IT" sz="1400" b="1" dirty="0">
                <a:solidFill>
                  <a:schemeClr val="accent2">
                    <a:lumMod val="50000"/>
                  </a:schemeClr>
                </a:solidFill>
                <a:effectLst/>
                <a:latin typeface="+mn-lt"/>
              </a:rPr>
              <a:t> </a:t>
            </a:r>
            <a:r>
              <a:rPr lang="it-IT" sz="1400" b="1" dirty="0" err="1">
                <a:solidFill>
                  <a:schemeClr val="accent2">
                    <a:lumMod val="50000"/>
                  </a:schemeClr>
                </a:solidFill>
                <a:effectLst/>
                <a:latin typeface="+mn-lt"/>
              </a:rPr>
              <a:t>should</a:t>
            </a:r>
            <a:r>
              <a:rPr lang="it-IT" sz="1400" b="1" dirty="0">
                <a:solidFill>
                  <a:schemeClr val="accent2">
                    <a:lumMod val="50000"/>
                  </a:schemeClr>
                </a:solidFill>
                <a:effectLst/>
                <a:latin typeface="+mn-lt"/>
              </a:rPr>
              <a:t> road-</a:t>
            </a:r>
            <a:r>
              <a:rPr lang="it-IT" sz="1400" b="1" dirty="0" err="1">
                <a:solidFill>
                  <a:schemeClr val="accent2">
                    <a:lumMod val="50000"/>
                  </a:schemeClr>
                </a:solidFill>
                <a:effectLst/>
                <a:latin typeface="+mn-lt"/>
              </a:rPr>
              <a:t>safety</a:t>
            </a:r>
            <a:r>
              <a:rPr lang="it-IT" sz="1400" b="1" dirty="0">
                <a:solidFill>
                  <a:schemeClr val="accent2">
                    <a:lumMod val="50000"/>
                  </a:schemeClr>
                </a:solidFill>
                <a:effectLst/>
                <a:latin typeface="+mn-lt"/>
              </a:rPr>
              <a:t> investment go in Italy?</a:t>
            </a:r>
            <a:endParaRPr lang="it-IT" sz="1400" b="1" dirty="0">
              <a:solidFill>
                <a:schemeClr val="accent2">
                  <a:lumMod val="50000"/>
                </a:schemeClr>
              </a:solidFill>
            </a:endParaRPr>
          </a:p>
        </p:txBody>
      </p:sp>
      <p:sp>
        <p:nvSpPr>
          <p:cNvPr id="4" name="CasellaDiTesto 3">
            <a:extLst>
              <a:ext uri="{FF2B5EF4-FFF2-40B4-BE49-F238E27FC236}">
                <a16:creationId xmlns:a16="http://schemas.microsoft.com/office/drawing/2014/main" id="{CFA9A5A7-AA70-5F1A-E007-003002A95959}"/>
              </a:ext>
            </a:extLst>
          </p:cNvPr>
          <p:cNvSpPr txBox="1"/>
          <p:nvPr/>
        </p:nvSpPr>
        <p:spPr>
          <a:xfrm>
            <a:off x="7085430" y="462214"/>
            <a:ext cx="4270716" cy="307777"/>
          </a:xfrm>
          <a:prstGeom prst="rect">
            <a:avLst/>
          </a:prstGeom>
          <a:noFill/>
        </p:spPr>
        <p:txBody>
          <a:bodyPr wrap="square">
            <a:spAutoFit/>
          </a:bodyPr>
          <a:lstStyle/>
          <a:p>
            <a:pPr algn="r"/>
            <a:r>
              <a:rPr lang="it-IT" sz="1400" i="0" spc="225" dirty="0">
                <a:solidFill>
                  <a:schemeClr val="tx1">
                    <a:lumMod val="65000"/>
                    <a:lumOff val="35000"/>
                  </a:schemeClr>
                </a:solidFill>
                <a:effectLst/>
                <a:latin typeface="+mn-lt"/>
              </a:rPr>
              <a:t>DATA FETCHING &amp; CLEANING</a:t>
            </a:r>
            <a:endParaRPr lang="it-IT" sz="1400" dirty="0">
              <a:solidFill>
                <a:schemeClr val="tx1">
                  <a:lumMod val="65000"/>
                  <a:lumOff val="35000"/>
                </a:schemeClr>
              </a:solidFill>
            </a:endParaRPr>
          </a:p>
        </p:txBody>
      </p:sp>
      <p:sp>
        <p:nvSpPr>
          <p:cNvPr id="8" name="CasellaDiTesto 7">
            <a:extLst>
              <a:ext uri="{FF2B5EF4-FFF2-40B4-BE49-F238E27FC236}">
                <a16:creationId xmlns:a16="http://schemas.microsoft.com/office/drawing/2014/main" id="{E9D5497F-1CF4-3EA5-6D11-D78317B20512}"/>
              </a:ext>
            </a:extLst>
          </p:cNvPr>
          <p:cNvSpPr txBox="1"/>
          <p:nvPr/>
        </p:nvSpPr>
        <p:spPr>
          <a:xfrm>
            <a:off x="835854" y="1404618"/>
            <a:ext cx="5072576" cy="369332"/>
          </a:xfrm>
          <a:prstGeom prst="rect">
            <a:avLst/>
          </a:prstGeom>
          <a:noFill/>
        </p:spPr>
        <p:txBody>
          <a:bodyPr wrap="square">
            <a:spAutoFit/>
          </a:bodyPr>
          <a:lstStyle/>
          <a:p>
            <a:r>
              <a:rPr lang="it-IT" sz="1800" b="1" i="0" spc="225" dirty="0" err="1">
                <a:solidFill>
                  <a:schemeClr val="accent2">
                    <a:lumMod val="50000"/>
                  </a:schemeClr>
                </a:solidFill>
                <a:effectLst/>
                <a:latin typeface="+mn-lt"/>
              </a:rPr>
              <a:t>Main</a:t>
            </a:r>
            <a:r>
              <a:rPr lang="it-IT" sz="1800" b="1" i="0" spc="225" dirty="0">
                <a:solidFill>
                  <a:schemeClr val="accent2">
                    <a:lumMod val="50000"/>
                  </a:schemeClr>
                </a:solidFill>
                <a:effectLst/>
                <a:latin typeface="+mn-lt"/>
              </a:rPr>
              <a:t> data</a:t>
            </a:r>
            <a:endParaRPr lang="it-IT" dirty="0">
              <a:solidFill>
                <a:schemeClr val="accent2">
                  <a:lumMod val="50000"/>
                </a:schemeClr>
              </a:solidFill>
            </a:endParaRPr>
          </a:p>
        </p:txBody>
      </p:sp>
      <p:sp>
        <p:nvSpPr>
          <p:cNvPr id="12" name="CasellaDiTesto 11">
            <a:extLst>
              <a:ext uri="{FF2B5EF4-FFF2-40B4-BE49-F238E27FC236}">
                <a16:creationId xmlns:a16="http://schemas.microsoft.com/office/drawing/2014/main" id="{0E096179-4385-328D-3231-A1B638DA0124}"/>
              </a:ext>
            </a:extLst>
          </p:cNvPr>
          <p:cNvSpPr txBox="1"/>
          <p:nvPr/>
        </p:nvSpPr>
        <p:spPr>
          <a:xfrm>
            <a:off x="835855" y="1757582"/>
            <a:ext cx="5072576" cy="800219"/>
          </a:xfrm>
          <a:prstGeom prst="rect">
            <a:avLst/>
          </a:prstGeom>
          <a:noFill/>
        </p:spPr>
        <p:txBody>
          <a:bodyPr wrap="square">
            <a:spAutoFit/>
          </a:bodyPr>
          <a:lstStyle/>
          <a:p>
            <a:r>
              <a:rPr lang="en-US" sz="1600" dirty="0"/>
              <a:t>ISTAT API (dataflow 41_983): accidents, killed and injured per town and year</a:t>
            </a:r>
          </a:p>
          <a:p>
            <a:r>
              <a:rPr lang="it-IT" sz="1400" b="1" dirty="0">
                <a:latin typeface="Cascadia Code" panose="020B0609020000020004" pitchFamily="49" charset="0"/>
                <a:ea typeface="Cascadia Code" panose="020B0609020000020004" pitchFamily="49" charset="0"/>
                <a:cs typeface="Cascadia Code" panose="020B0609020000020004" pitchFamily="49" charset="0"/>
              </a:rPr>
              <a:t>→ traffic_raw.csv</a:t>
            </a:r>
            <a:r>
              <a:rPr lang="it-IT" sz="1400" dirty="0">
                <a:latin typeface="Cascadia Code" panose="020B0609020000020004" pitchFamily="49" charset="0"/>
                <a:ea typeface="Cascadia Code" panose="020B0609020000020004" pitchFamily="49" charset="0"/>
                <a:cs typeface="Cascadia Code" panose="020B0609020000020004" pitchFamily="49" charset="0"/>
              </a:rPr>
              <a:t> (via </a:t>
            </a:r>
            <a:r>
              <a:rPr lang="it-IT" sz="1400" dirty="0" err="1">
                <a:latin typeface="Cascadia Code" panose="020B0609020000020004" pitchFamily="49" charset="0"/>
                <a:ea typeface="Cascadia Code" panose="020B0609020000020004" pitchFamily="49" charset="0"/>
                <a:cs typeface="Cascadia Code" panose="020B0609020000020004" pitchFamily="49" charset="0"/>
              </a:rPr>
              <a:t>py</a:t>
            </a:r>
            <a:r>
              <a:rPr lang="it-IT" sz="1400" dirty="0">
                <a:latin typeface="Cascadia Code" panose="020B0609020000020004" pitchFamily="49" charset="0"/>
                <a:ea typeface="Cascadia Code" panose="020B0609020000020004" pitchFamily="49" charset="0"/>
                <a:cs typeface="Cascadia Code" panose="020B0609020000020004" pitchFamily="49" charset="0"/>
              </a:rPr>
              <a:t> script)</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6" name="CasellaDiTesto 15">
            <a:extLst>
              <a:ext uri="{FF2B5EF4-FFF2-40B4-BE49-F238E27FC236}">
                <a16:creationId xmlns:a16="http://schemas.microsoft.com/office/drawing/2014/main" id="{1D50E1D2-5D2C-C6EE-26C7-9A6906755A7B}"/>
              </a:ext>
            </a:extLst>
          </p:cNvPr>
          <p:cNvSpPr txBox="1"/>
          <p:nvPr/>
        </p:nvSpPr>
        <p:spPr>
          <a:xfrm>
            <a:off x="835853" y="2588579"/>
            <a:ext cx="5072576" cy="369332"/>
          </a:xfrm>
          <a:prstGeom prst="rect">
            <a:avLst/>
          </a:prstGeom>
          <a:noFill/>
        </p:spPr>
        <p:txBody>
          <a:bodyPr wrap="square">
            <a:spAutoFit/>
          </a:bodyPr>
          <a:lstStyle/>
          <a:p>
            <a:r>
              <a:rPr lang="it-IT" sz="1800" b="1" i="0" spc="225" dirty="0" err="1">
                <a:solidFill>
                  <a:schemeClr val="accent2">
                    <a:lumMod val="50000"/>
                  </a:schemeClr>
                </a:solidFill>
                <a:effectLst/>
                <a:latin typeface="+mn-lt"/>
              </a:rPr>
              <a:t>Additional</a:t>
            </a:r>
            <a:r>
              <a:rPr lang="it-IT" sz="1800" b="1" i="0" spc="225" dirty="0">
                <a:solidFill>
                  <a:schemeClr val="accent2">
                    <a:lumMod val="50000"/>
                  </a:schemeClr>
                </a:solidFill>
                <a:effectLst/>
                <a:latin typeface="+mn-lt"/>
              </a:rPr>
              <a:t>/</a:t>
            </a:r>
            <a:r>
              <a:rPr lang="it-IT" sz="1800" b="1" i="0" spc="225" dirty="0" err="1">
                <a:solidFill>
                  <a:schemeClr val="accent2">
                    <a:lumMod val="50000"/>
                  </a:schemeClr>
                </a:solidFill>
                <a:effectLst/>
                <a:latin typeface="+mn-lt"/>
              </a:rPr>
              <a:t>Supporting</a:t>
            </a:r>
            <a:r>
              <a:rPr lang="it-IT" sz="1800" b="1" i="0" spc="225" dirty="0">
                <a:solidFill>
                  <a:schemeClr val="accent2">
                    <a:lumMod val="50000"/>
                  </a:schemeClr>
                </a:solidFill>
                <a:effectLst/>
                <a:latin typeface="+mn-lt"/>
              </a:rPr>
              <a:t> data</a:t>
            </a:r>
            <a:endParaRPr lang="it-IT" dirty="0">
              <a:solidFill>
                <a:schemeClr val="accent2">
                  <a:lumMod val="50000"/>
                </a:schemeClr>
              </a:solidFill>
            </a:endParaRPr>
          </a:p>
        </p:txBody>
      </p:sp>
      <p:sp>
        <p:nvSpPr>
          <p:cNvPr id="20" name="CasellaDiTesto 19">
            <a:extLst>
              <a:ext uri="{FF2B5EF4-FFF2-40B4-BE49-F238E27FC236}">
                <a16:creationId xmlns:a16="http://schemas.microsoft.com/office/drawing/2014/main" id="{7D2B1E4C-ADEF-702E-87DB-34DABE6BD090}"/>
              </a:ext>
            </a:extLst>
          </p:cNvPr>
          <p:cNvSpPr txBox="1"/>
          <p:nvPr/>
        </p:nvSpPr>
        <p:spPr>
          <a:xfrm>
            <a:off x="835854" y="2941543"/>
            <a:ext cx="5072575" cy="800219"/>
          </a:xfrm>
          <a:prstGeom prst="rect">
            <a:avLst/>
          </a:prstGeom>
          <a:noFill/>
        </p:spPr>
        <p:txBody>
          <a:bodyPr wrap="square">
            <a:spAutoFit/>
          </a:bodyPr>
          <a:lstStyle/>
          <a:p>
            <a:r>
              <a:rPr lang="en-US" sz="1600" dirty="0"/>
              <a:t>SITUAS registry: area, residents, region and province codes, 2001–2024</a:t>
            </a:r>
          </a:p>
          <a:p>
            <a:r>
              <a:rPr lang="it-IT" sz="1400" b="1" dirty="0">
                <a:latin typeface="Cascadia Code" panose="020B0609020000020004" pitchFamily="49" charset="0"/>
                <a:ea typeface="Cascadia Code" panose="020B0609020000020004" pitchFamily="49" charset="0"/>
                <a:cs typeface="Cascadia Code" panose="020B0609020000020004" pitchFamily="49" charset="0"/>
              </a:rPr>
              <a:t>→ area_raw.csv</a:t>
            </a:r>
            <a:r>
              <a:rPr lang="it-IT" sz="1400" dirty="0">
                <a:latin typeface="Cascadia Code" panose="020B0609020000020004" pitchFamily="49" charset="0"/>
                <a:ea typeface="Cascadia Code" panose="020B0609020000020004" pitchFamily="49" charset="0"/>
                <a:cs typeface="Cascadia Code" panose="020B0609020000020004" pitchFamily="49" charset="0"/>
              </a:rPr>
              <a:t> (via </a:t>
            </a:r>
            <a:r>
              <a:rPr lang="it-IT" sz="1400" dirty="0" err="1">
                <a:latin typeface="Cascadia Code" panose="020B0609020000020004" pitchFamily="49" charset="0"/>
                <a:ea typeface="Cascadia Code" panose="020B0609020000020004" pitchFamily="49" charset="0"/>
                <a:cs typeface="Cascadia Code" panose="020B0609020000020004" pitchFamily="49" charset="0"/>
              </a:rPr>
              <a:t>py</a:t>
            </a:r>
            <a:r>
              <a:rPr lang="it-IT" sz="1400" dirty="0">
                <a:latin typeface="Cascadia Code" panose="020B0609020000020004" pitchFamily="49" charset="0"/>
                <a:ea typeface="Cascadia Code" panose="020B0609020000020004" pitchFamily="49" charset="0"/>
                <a:cs typeface="Cascadia Code" panose="020B0609020000020004" pitchFamily="49" charset="0"/>
              </a:rPr>
              <a:t> script)</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22" name="CasellaDiTesto 21">
            <a:extLst>
              <a:ext uri="{FF2B5EF4-FFF2-40B4-BE49-F238E27FC236}">
                <a16:creationId xmlns:a16="http://schemas.microsoft.com/office/drawing/2014/main" id="{7D54A469-732E-3D20-17F0-91C0AB0C702E}"/>
              </a:ext>
            </a:extLst>
          </p:cNvPr>
          <p:cNvSpPr txBox="1"/>
          <p:nvPr/>
        </p:nvSpPr>
        <p:spPr>
          <a:xfrm>
            <a:off x="835853" y="5141400"/>
            <a:ext cx="5072576" cy="369332"/>
          </a:xfrm>
          <a:prstGeom prst="rect">
            <a:avLst/>
          </a:prstGeom>
          <a:noFill/>
        </p:spPr>
        <p:txBody>
          <a:bodyPr wrap="square">
            <a:spAutoFit/>
          </a:bodyPr>
          <a:lstStyle/>
          <a:p>
            <a:r>
              <a:rPr lang="it-IT" sz="1800" b="1" i="0" spc="225" dirty="0">
                <a:solidFill>
                  <a:schemeClr val="accent2">
                    <a:lumMod val="50000"/>
                  </a:schemeClr>
                </a:solidFill>
                <a:effectLst/>
                <a:latin typeface="+mn-lt"/>
              </a:rPr>
              <a:t>Readings &amp; </a:t>
            </a:r>
            <a:r>
              <a:rPr lang="it-IT" sz="1800" b="1" i="0" spc="225" dirty="0" err="1">
                <a:solidFill>
                  <a:schemeClr val="accent2">
                    <a:lumMod val="50000"/>
                  </a:schemeClr>
                </a:solidFill>
                <a:effectLst/>
                <a:latin typeface="+mn-lt"/>
              </a:rPr>
              <a:t>Documentation</a:t>
            </a:r>
            <a:endParaRPr lang="it-IT" dirty="0">
              <a:solidFill>
                <a:schemeClr val="accent2">
                  <a:lumMod val="50000"/>
                </a:schemeClr>
              </a:solidFill>
            </a:endParaRPr>
          </a:p>
        </p:txBody>
      </p:sp>
      <p:sp>
        <p:nvSpPr>
          <p:cNvPr id="24" name="CasellaDiTesto 23">
            <a:extLst>
              <a:ext uri="{FF2B5EF4-FFF2-40B4-BE49-F238E27FC236}">
                <a16:creationId xmlns:a16="http://schemas.microsoft.com/office/drawing/2014/main" id="{D5411815-343D-3573-19DC-5D2EB13A39E7}"/>
              </a:ext>
            </a:extLst>
          </p:cNvPr>
          <p:cNvSpPr txBox="1"/>
          <p:nvPr/>
        </p:nvSpPr>
        <p:spPr>
          <a:xfrm>
            <a:off x="835855" y="5494364"/>
            <a:ext cx="5166359" cy="830997"/>
          </a:xfrm>
          <a:prstGeom prst="rect">
            <a:avLst/>
          </a:prstGeom>
          <a:noFill/>
        </p:spPr>
        <p:txBody>
          <a:bodyPr wrap="square">
            <a:spAutoFit/>
          </a:bodyPr>
          <a:lstStyle/>
          <a:p>
            <a:pPr marL="285750" indent="-285750">
              <a:buFont typeface="Arial" panose="020B0604020202020204" pitchFamily="34" charset="0"/>
              <a:buChar char="•"/>
            </a:pPr>
            <a:r>
              <a:rPr lang="it-IT" sz="1600" dirty="0"/>
              <a:t>ISTAT data guide and best practices (</a:t>
            </a:r>
            <a:r>
              <a:rPr lang="it-IT" sz="1600" dirty="0" err="1"/>
              <a:t>unofficial</a:t>
            </a:r>
            <a:r>
              <a:rPr lang="it-IT" sz="1600" dirty="0"/>
              <a:t>)</a:t>
            </a:r>
          </a:p>
          <a:p>
            <a:pPr marL="285750" indent="-285750">
              <a:buFont typeface="Arial" panose="020B0604020202020204" pitchFamily="34" charset="0"/>
              <a:buChar char="•"/>
            </a:pPr>
            <a:r>
              <a:rPr lang="it-IT" sz="1600" dirty="0">
                <a:hlinkClick r:id="rId2"/>
              </a:rPr>
              <a:t>ISTAT </a:t>
            </a:r>
            <a:r>
              <a:rPr lang="it-IT" sz="1600" dirty="0" err="1">
                <a:hlinkClick r:id="rId2"/>
              </a:rPr>
              <a:t>methodology</a:t>
            </a:r>
            <a:r>
              <a:rPr lang="it-IT" sz="1600" dirty="0">
                <a:hlinkClick r:id="rId2"/>
              </a:rPr>
              <a:t> &amp; </a:t>
            </a:r>
            <a:r>
              <a:rPr lang="it-IT" sz="1600" dirty="0" err="1">
                <a:hlinkClick r:id="rId2"/>
              </a:rPr>
              <a:t>glossary</a:t>
            </a:r>
            <a:r>
              <a:rPr lang="it-IT" sz="1600" dirty="0">
                <a:hlinkClick r:id="rId2"/>
              </a:rPr>
              <a:t> (official)</a:t>
            </a:r>
            <a:endParaRPr lang="it-IT" sz="1600" dirty="0"/>
          </a:p>
          <a:p>
            <a:pPr marL="285750" indent="-285750">
              <a:buFont typeface="Arial" panose="020B0604020202020204" pitchFamily="34" charset="0"/>
              <a:buChar char="•"/>
            </a:pPr>
            <a:r>
              <a:rPr lang="it-IT" sz="1600" dirty="0"/>
              <a:t>Wikipedia (</a:t>
            </a:r>
            <a:r>
              <a:rPr lang="it-IT" sz="1600" dirty="0" err="1"/>
              <a:t>it</a:t>
            </a:r>
            <a:r>
              <a:rPr lang="it-IT" sz="1600" dirty="0"/>
              <a:t>)</a:t>
            </a:r>
          </a:p>
        </p:txBody>
      </p:sp>
      <p:sp>
        <p:nvSpPr>
          <p:cNvPr id="25" name="Rettangolo con angoli arrotondati 24">
            <a:extLst>
              <a:ext uri="{FF2B5EF4-FFF2-40B4-BE49-F238E27FC236}">
                <a16:creationId xmlns:a16="http://schemas.microsoft.com/office/drawing/2014/main" id="{D04832ED-E016-4700-BC2C-82C9454BB6BC}"/>
              </a:ext>
            </a:extLst>
          </p:cNvPr>
          <p:cNvSpPr/>
          <p:nvPr/>
        </p:nvSpPr>
        <p:spPr>
          <a:xfrm>
            <a:off x="835852" y="3879977"/>
            <a:ext cx="5072577" cy="11232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a:solidFill>
                  <a:schemeClr val="tx1"/>
                </a:solidFill>
              </a:rPr>
              <a:t>Why the </a:t>
            </a:r>
            <a:r>
              <a:rPr lang="it-IT" sz="1400" b="1" dirty="0" err="1">
                <a:solidFill>
                  <a:schemeClr val="tx1"/>
                </a:solidFill>
              </a:rPr>
              <a:t>choice</a:t>
            </a:r>
            <a:r>
              <a:rPr lang="it-IT" sz="1400" b="1" dirty="0">
                <a:solidFill>
                  <a:schemeClr val="tx1"/>
                </a:solidFill>
              </a:rPr>
              <a:t> to download data via script?</a:t>
            </a:r>
          </a:p>
          <a:p>
            <a:r>
              <a:rPr lang="it-IT" sz="1400" dirty="0" err="1">
                <a:solidFill>
                  <a:schemeClr val="tx1"/>
                </a:solidFill>
              </a:rPr>
              <a:t>If</a:t>
            </a:r>
            <a:r>
              <a:rPr lang="it-IT" sz="1400" dirty="0">
                <a:solidFill>
                  <a:schemeClr val="tx1"/>
                </a:solidFill>
              </a:rPr>
              <a:t> </a:t>
            </a:r>
            <a:r>
              <a:rPr lang="it-IT" sz="1400" dirty="0" err="1">
                <a:solidFill>
                  <a:schemeClr val="tx1"/>
                </a:solidFill>
              </a:rPr>
              <a:t>it</a:t>
            </a:r>
            <a:r>
              <a:rPr lang="it-IT" sz="1400" dirty="0">
                <a:solidFill>
                  <a:schemeClr val="tx1"/>
                </a:solidFill>
              </a:rPr>
              <a:t> </a:t>
            </a:r>
            <a:r>
              <a:rPr lang="it-IT" sz="1400" dirty="0" err="1">
                <a:solidFill>
                  <a:schemeClr val="tx1"/>
                </a:solidFill>
              </a:rPr>
              <a:t>was</a:t>
            </a:r>
            <a:r>
              <a:rPr lang="it-IT" sz="1400" dirty="0">
                <a:solidFill>
                  <a:schemeClr val="tx1"/>
                </a:solidFill>
              </a:rPr>
              <a:t> in a </a:t>
            </a:r>
            <a:r>
              <a:rPr lang="it-IT" sz="1400" dirty="0" err="1">
                <a:solidFill>
                  <a:schemeClr val="tx1"/>
                </a:solidFill>
              </a:rPr>
              <a:t>jupyter</a:t>
            </a:r>
            <a:r>
              <a:rPr lang="it-IT" sz="1400" dirty="0">
                <a:solidFill>
                  <a:schemeClr val="tx1"/>
                </a:solidFill>
              </a:rPr>
              <a:t> notebook, </a:t>
            </a:r>
            <a:r>
              <a:rPr lang="it-IT" sz="1400" dirty="0" err="1">
                <a:solidFill>
                  <a:schemeClr val="tx1"/>
                </a:solidFill>
              </a:rPr>
              <a:t>there</a:t>
            </a:r>
            <a:r>
              <a:rPr lang="it-IT" sz="1400" dirty="0">
                <a:solidFill>
                  <a:schemeClr val="tx1"/>
                </a:solidFill>
              </a:rPr>
              <a:t> </a:t>
            </a:r>
            <a:r>
              <a:rPr lang="it-IT" sz="1400" dirty="0" err="1">
                <a:solidFill>
                  <a:schemeClr val="tx1"/>
                </a:solidFill>
              </a:rPr>
              <a:t>was</a:t>
            </a:r>
            <a:r>
              <a:rPr lang="it-IT" sz="1400" dirty="0">
                <a:solidFill>
                  <a:schemeClr val="tx1"/>
                </a:solidFill>
              </a:rPr>
              <a:t> an high chance to </a:t>
            </a:r>
            <a:r>
              <a:rPr lang="it-IT" sz="1400" dirty="0" err="1">
                <a:solidFill>
                  <a:schemeClr val="tx1"/>
                </a:solidFill>
              </a:rPr>
              <a:t>accidentally</a:t>
            </a:r>
            <a:r>
              <a:rPr lang="it-IT" sz="1400" dirty="0">
                <a:solidFill>
                  <a:schemeClr val="tx1"/>
                </a:solidFill>
              </a:rPr>
              <a:t> make </a:t>
            </a:r>
            <a:r>
              <a:rPr lang="it-IT" sz="1400" dirty="0" err="1">
                <a:solidFill>
                  <a:schemeClr val="tx1"/>
                </a:solidFill>
              </a:rPr>
              <a:t>too</a:t>
            </a:r>
            <a:r>
              <a:rPr lang="it-IT" sz="1400" dirty="0">
                <a:solidFill>
                  <a:schemeClr val="tx1"/>
                </a:solidFill>
              </a:rPr>
              <a:t> </a:t>
            </a:r>
            <a:r>
              <a:rPr lang="it-IT" sz="1400" dirty="0" err="1">
                <a:solidFill>
                  <a:schemeClr val="tx1"/>
                </a:solidFill>
              </a:rPr>
              <a:t>many</a:t>
            </a:r>
            <a:r>
              <a:rPr lang="it-IT" sz="1400" dirty="0">
                <a:solidFill>
                  <a:schemeClr val="tx1"/>
                </a:solidFill>
              </a:rPr>
              <a:t> calls, </a:t>
            </a:r>
            <a:r>
              <a:rPr lang="it-IT" sz="1400" dirty="0" err="1">
                <a:solidFill>
                  <a:schemeClr val="tx1"/>
                </a:solidFill>
              </a:rPr>
              <a:t>resulting</a:t>
            </a:r>
            <a:r>
              <a:rPr lang="it-IT" sz="1400" dirty="0">
                <a:solidFill>
                  <a:schemeClr val="tx1"/>
                </a:solidFill>
              </a:rPr>
              <a:t> in </a:t>
            </a:r>
            <a:r>
              <a:rPr lang="it-IT" sz="1400" dirty="0" err="1">
                <a:solidFill>
                  <a:schemeClr val="tx1"/>
                </a:solidFill>
              </a:rPr>
              <a:t>being</a:t>
            </a:r>
            <a:r>
              <a:rPr lang="it-IT" sz="1400" dirty="0">
                <a:solidFill>
                  <a:schemeClr val="tx1"/>
                </a:solidFill>
              </a:rPr>
              <a:t> </a:t>
            </a:r>
            <a:r>
              <a:rPr lang="it-IT" sz="1400" dirty="0" err="1">
                <a:solidFill>
                  <a:schemeClr val="tx1"/>
                </a:solidFill>
              </a:rPr>
              <a:t>blacklisted</a:t>
            </a:r>
            <a:r>
              <a:rPr lang="it-IT" sz="1400" dirty="0">
                <a:solidFill>
                  <a:schemeClr val="tx1"/>
                </a:solidFill>
              </a:rPr>
              <a:t>.</a:t>
            </a:r>
          </a:p>
        </p:txBody>
      </p:sp>
      <p:sp>
        <p:nvSpPr>
          <p:cNvPr id="27" name="CasellaDiTesto 26">
            <a:extLst>
              <a:ext uri="{FF2B5EF4-FFF2-40B4-BE49-F238E27FC236}">
                <a16:creationId xmlns:a16="http://schemas.microsoft.com/office/drawing/2014/main" id="{7F14E11D-10C6-20B9-57C7-C310BEDAC850}"/>
              </a:ext>
            </a:extLst>
          </p:cNvPr>
          <p:cNvSpPr txBox="1"/>
          <p:nvPr/>
        </p:nvSpPr>
        <p:spPr>
          <a:xfrm>
            <a:off x="6840414" y="1404618"/>
            <a:ext cx="4270717" cy="369332"/>
          </a:xfrm>
          <a:prstGeom prst="rect">
            <a:avLst/>
          </a:prstGeom>
          <a:noFill/>
        </p:spPr>
        <p:txBody>
          <a:bodyPr wrap="square">
            <a:spAutoFit/>
          </a:bodyPr>
          <a:lstStyle/>
          <a:p>
            <a:r>
              <a:rPr lang="it-IT" sz="1800" b="1" i="0" spc="225" dirty="0">
                <a:solidFill>
                  <a:schemeClr val="accent2">
                    <a:lumMod val="50000"/>
                  </a:schemeClr>
                </a:solidFill>
                <a:effectLst/>
                <a:latin typeface="+mn-lt"/>
              </a:rPr>
              <a:t>Basic </a:t>
            </a:r>
            <a:r>
              <a:rPr lang="it-IT" sz="1800" b="1" i="0" spc="225" dirty="0" err="1">
                <a:solidFill>
                  <a:schemeClr val="accent2">
                    <a:lumMod val="50000"/>
                  </a:schemeClr>
                </a:solidFill>
                <a:effectLst/>
                <a:latin typeface="+mn-lt"/>
              </a:rPr>
              <a:t>Cleaning</a:t>
            </a:r>
            <a:endParaRPr lang="it-IT" dirty="0">
              <a:solidFill>
                <a:schemeClr val="accent2">
                  <a:lumMod val="50000"/>
                </a:schemeClr>
              </a:solidFill>
            </a:endParaRPr>
          </a:p>
        </p:txBody>
      </p:sp>
      <p:sp>
        <p:nvSpPr>
          <p:cNvPr id="29" name="CasellaDiTesto 28">
            <a:extLst>
              <a:ext uri="{FF2B5EF4-FFF2-40B4-BE49-F238E27FC236}">
                <a16:creationId xmlns:a16="http://schemas.microsoft.com/office/drawing/2014/main" id="{E9BA8A10-3E49-19A0-862C-2DDAC264CDBC}"/>
              </a:ext>
            </a:extLst>
          </p:cNvPr>
          <p:cNvSpPr txBox="1"/>
          <p:nvPr/>
        </p:nvSpPr>
        <p:spPr>
          <a:xfrm>
            <a:off x="6840413" y="1749515"/>
            <a:ext cx="4270715" cy="4493538"/>
          </a:xfrm>
          <a:prstGeom prst="rect">
            <a:avLst/>
          </a:prstGeom>
          <a:noFill/>
        </p:spPr>
        <p:txBody>
          <a:bodyPr wrap="square">
            <a:spAutoFit/>
          </a:bodyPr>
          <a:lstStyle/>
          <a:p>
            <a:r>
              <a:rPr lang="it-IT" sz="1400" b="1" dirty="0" err="1">
                <a:latin typeface="Cascadia Code" panose="020B0609020000020004" pitchFamily="49" charset="0"/>
                <a:ea typeface="Cascadia Code" panose="020B0609020000020004" pitchFamily="49" charset="0"/>
                <a:cs typeface="Cascadia Code" panose="020B0609020000020004" pitchFamily="49" charset="0"/>
              </a:rPr>
              <a:t>traffic_raw</a:t>
            </a:r>
            <a:endParaRPr lang="it-IT" sz="1400" b="1" dirty="0">
              <a:latin typeface="Cascadia Code" panose="020B0609020000020004" pitchFamily="49" charset="0"/>
              <a:ea typeface="Cascadia Code" panose="020B0609020000020004" pitchFamily="49" charset="0"/>
              <a:cs typeface="Cascadia Code" panose="020B0609020000020004" pitchFamily="49" charset="0"/>
            </a:endParaRPr>
          </a:p>
          <a:p>
            <a:pPr marL="285750" indent="-285750">
              <a:buFont typeface="Arial" panose="020B0604020202020204" pitchFamily="34" charset="0"/>
              <a:buChar char="•"/>
            </a:pPr>
            <a:r>
              <a:rPr lang="it-IT" sz="1600" dirty="0">
                <a:latin typeface="+mj-lt"/>
              </a:rPr>
              <a:t>Basic </a:t>
            </a:r>
            <a:r>
              <a:rPr lang="it-IT" sz="1600" dirty="0" err="1">
                <a:latin typeface="+mj-lt"/>
              </a:rPr>
              <a:t>cleaning</a:t>
            </a:r>
            <a:r>
              <a:rPr lang="it-IT" sz="1600" dirty="0">
                <a:latin typeface="+mj-lt"/>
              </a:rPr>
              <a:t> of </a:t>
            </a:r>
            <a:r>
              <a:rPr lang="it-IT" sz="1600" dirty="0" err="1">
                <a:latin typeface="+mj-lt"/>
              </a:rPr>
              <a:t>empty</a:t>
            </a:r>
            <a:r>
              <a:rPr lang="it-IT" sz="1600" dirty="0">
                <a:latin typeface="+mj-lt"/>
              </a:rPr>
              <a:t> and </a:t>
            </a:r>
            <a:r>
              <a:rPr lang="it-IT" sz="1600" dirty="0" err="1">
                <a:latin typeface="+mj-lt"/>
              </a:rPr>
              <a:t>constant</a:t>
            </a:r>
            <a:r>
              <a:rPr lang="it-IT" sz="1600" dirty="0">
                <a:latin typeface="+mj-lt"/>
              </a:rPr>
              <a:t> </a:t>
            </a:r>
            <a:r>
              <a:rPr lang="it-IT" sz="1600" dirty="0" err="1">
                <a:latin typeface="+mj-lt"/>
              </a:rPr>
              <a:t>columns</a:t>
            </a:r>
            <a:endParaRPr lang="it-IT" sz="1600" dirty="0">
              <a:latin typeface="+mj-lt"/>
            </a:endParaRPr>
          </a:p>
          <a:p>
            <a:pPr marL="285750" indent="-285750">
              <a:buFont typeface="Arial" panose="020B0604020202020204" pitchFamily="34" charset="0"/>
              <a:buChar char="•"/>
            </a:pPr>
            <a:r>
              <a:rPr lang="it-IT" sz="1600" dirty="0" err="1">
                <a:latin typeface="+mj-lt"/>
              </a:rPr>
              <a:t>Pivoting</a:t>
            </a:r>
            <a:r>
              <a:rPr lang="it-IT" sz="1600" dirty="0">
                <a:latin typeface="+mj-lt"/>
              </a:rPr>
              <a:t> of </a:t>
            </a:r>
            <a:r>
              <a:rPr lang="it-IT" sz="1600" dirty="0" err="1">
                <a:latin typeface="+mj-lt"/>
              </a:rPr>
              <a:t>column</a:t>
            </a:r>
            <a:r>
              <a:rPr lang="it-IT" sz="1600" dirty="0">
                <a:latin typeface="+mj-lt"/>
              </a:rPr>
              <a:t> </a:t>
            </a:r>
            <a:r>
              <a:rPr lang="it-IT" sz="1600" dirty="0" err="1">
                <a:latin typeface="+mj-lt"/>
              </a:rPr>
              <a:t>rapresenting</a:t>
            </a:r>
            <a:r>
              <a:rPr lang="it-IT" sz="1600" dirty="0">
                <a:latin typeface="+mj-lt"/>
              </a:rPr>
              <a:t> </a:t>
            </a:r>
            <a:r>
              <a:rPr lang="it-IT" sz="1600" dirty="0" err="1">
                <a:latin typeface="+mj-lt"/>
              </a:rPr>
              <a:t>category</a:t>
            </a:r>
            <a:r>
              <a:rPr lang="it-IT" sz="1600" dirty="0">
                <a:latin typeface="+mj-lt"/>
              </a:rPr>
              <a:t> of event and </a:t>
            </a:r>
            <a:r>
              <a:rPr lang="it-IT" sz="1600" dirty="0" err="1">
                <a:latin typeface="+mj-lt"/>
              </a:rPr>
              <a:t>value</a:t>
            </a:r>
            <a:r>
              <a:rPr lang="it-IT" sz="1600" dirty="0">
                <a:latin typeface="+mj-lt"/>
              </a:rPr>
              <a:t> of the </a:t>
            </a:r>
            <a:r>
              <a:rPr lang="it-IT" sz="1600" dirty="0" err="1">
                <a:latin typeface="+mj-lt"/>
              </a:rPr>
              <a:t>observation</a:t>
            </a:r>
            <a:endParaRPr lang="it-IT" sz="1600" dirty="0">
              <a:latin typeface="+mj-lt"/>
            </a:endParaRPr>
          </a:p>
          <a:p>
            <a:pPr marL="285750" indent="-285750">
              <a:buFont typeface="Arial" panose="020B0604020202020204" pitchFamily="34" charset="0"/>
              <a:buChar char="•"/>
            </a:pPr>
            <a:endParaRPr lang="it-IT" sz="1600" dirty="0">
              <a:latin typeface="+mj-lt"/>
            </a:endParaRPr>
          </a:p>
          <a:p>
            <a:r>
              <a:rPr lang="it-IT" sz="1600" b="1" dirty="0" err="1">
                <a:latin typeface="Cascadia Code" panose="020B0609020000020004" pitchFamily="49" charset="0"/>
                <a:ea typeface="Cascadia Code" panose="020B0609020000020004" pitchFamily="49" charset="0"/>
                <a:cs typeface="Cascadia Code" panose="020B0609020000020004" pitchFamily="49" charset="0"/>
              </a:rPr>
              <a:t>area_raw</a:t>
            </a:r>
            <a:endParaRPr lang="it-IT" sz="1600" b="1" dirty="0">
              <a:latin typeface="Cascadia Code" panose="020B0609020000020004" pitchFamily="49" charset="0"/>
              <a:ea typeface="Cascadia Code" panose="020B0609020000020004" pitchFamily="49" charset="0"/>
              <a:cs typeface="Cascadia Code" panose="020B0609020000020004" pitchFamily="49" charset="0"/>
            </a:endParaRPr>
          </a:p>
          <a:p>
            <a:pPr marL="285750" indent="-285750">
              <a:buFont typeface="Arial" panose="020B0604020202020204" pitchFamily="34" charset="0"/>
              <a:buChar char="•"/>
            </a:pPr>
            <a:r>
              <a:rPr lang="it-IT" sz="1600" dirty="0"/>
              <a:t>In the </a:t>
            </a:r>
            <a:r>
              <a:rPr lang="it-IT" sz="1600" dirty="0" err="1"/>
              <a:t>py</a:t>
            </a:r>
            <a:r>
              <a:rPr lang="it-IT" sz="1600" dirty="0"/>
              <a:t> script, some </a:t>
            </a:r>
            <a:r>
              <a:rPr lang="it-IT" sz="1600" dirty="0" err="1"/>
              <a:t>necessary</a:t>
            </a:r>
            <a:r>
              <a:rPr lang="it-IT" sz="1600" dirty="0"/>
              <a:t> </a:t>
            </a:r>
            <a:r>
              <a:rPr lang="it-IT" sz="1600" dirty="0" err="1"/>
              <a:t>cleaning</a:t>
            </a:r>
            <a:r>
              <a:rPr lang="it-IT" sz="1600" dirty="0"/>
              <a:t> (</a:t>
            </a:r>
            <a:r>
              <a:rPr lang="it-IT" sz="1600" dirty="0" err="1"/>
              <a:t>standardized</a:t>
            </a:r>
            <a:r>
              <a:rPr lang="it-IT" sz="1600" dirty="0"/>
              <a:t> province </a:t>
            </a:r>
            <a:r>
              <a:rPr lang="it-IT" sz="1600" dirty="0" err="1"/>
              <a:t>codes</a:t>
            </a:r>
            <a:r>
              <a:rPr lang="it-IT" sz="1600" dirty="0"/>
              <a:t>, </a:t>
            </a:r>
            <a:r>
              <a:rPr lang="it-IT" sz="1600" dirty="0" err="1"/>
              <a:t>partial</a:t>
            </a:r>
            <a:r>
              <a:rPr lang="it-IT" sz="1600" dirty="0"/>
              <a:t> download of single </a:t>
            </a:r>
            <a:r>
              <a:rPr lang="it-IT" sz="1600" dirty="0" err="1"/>
              <a:t>year</a:t>
            </a:r>
            <a:r>
              <a:rPr lang="it-IT" sz="1600" dirty="0"/>
              <a:t> csv + </a:t>
            </a:r>
            <a:r>
              <a:rPr lang="it-IT" sz="1600" dirty="0" err="1"/>
              <a:t>append</a:t>
            </a:r>
            <a:r>
              <a:rPr lang="it-IT" sz="1600" dirty="0"/>
              <a:t> of </a:t>
            </a:r>
            <a:r>
              <a:rPr lang="it-IT" sz="1600" dirty="0" err="1"/>
              <a:t>each</a:t>
            </a:r>
            <a:r>
              <a:rPr lang="it-IT" sz="1600" dirty="0"/>
              <a:t> file in a single csv)</a:t>
            </a:r>
          </a:p>
          <a:p>
            <a:pPr marL="285750" indent="-285750">
              <a:buFont typeface="Arial" panose="020B0604020202020204" pitchFamily="34" charset="0"/>
              <a:buChar char="•"/>
            </a:pPr>
            <a:r>
              <a:rPr lang="it-IT" sz="1600" dirty="0"/>
              <a:t>Basic </a:t>
            </a:r>
            <a:r>
              <a:rPr lang="it-IT" sz="1600" dirty="0" err="1"/>
              <a:t>cleaning</a:t>
            </a:r>
            <a:r>
              <a:rPr lang="it-IT" sz="1600" dirty="0"/>
              <a:t> of </a:t>
            </a:r>
            <a:r>
              <a:rPr lang="it-IT" sz="1600" dirty="0" err="1"/>
              <a:t>columns</a:t>
            </a:r>
            <a:r>
              <a:rPr lang="it-IT" sz="1600" dirty="0"/>
              <a:t> </a:t>
            </a:r>
            <a:r>
              <a:rPr lang="it-IT" sz="1600" dirty="0" err="1"/>
              <a:t>we</a:t>
            </a:r>
            <a:r>
              <a:rPr lang="it-IT" sz="1600" dirty="0"/>
              <a:t> </a:t>
            </a:r>
            <a:r>
              <a:rPr lang="it-IT" sz="1600" dirty="0" err="1"/>
              <a:t>won’t</a:t>
            </a:r>
            <a:r>
              <a:rPr lang="it-IT" sz="1600" dirty="0"/>
              <a:t> use</a:t>
            </a:r>
          </a:p>
          <a:p>
            <a:pPr marL="285750" indent="-285750">
              <a:buFont typeface="Arial" panose="020B0604020202020204" pitchFamily="34" charset="0"/>
              <a:buChar char="•"/>
            </a:pPr>
            <a:r>
              <a:rPr lang="it-IT" sz="1600" dirty="0"/>
              <a:t>Casting/fixing of </a:t>
            </a:r>
            <a:r>
              <a:rPr lang="it-IT" sz="1600" dirty="0" err="1"/>
              <a:t>dtypes</a:t>
            </a:r>
            <a:endParaRPr lang="it-IT" sz="1600" dirty="0"/>
          </a:p>
          <a:p>
            <a:pPr marL="285750" indent="-285750">
              <a:buFont typeface="Arial" panose="020B0604020202020204" pitchFamily="34" charset="0"/>
              <a:buChar char="•"/>
            </a:pPr>
            <a:endParaRPr lang="it-IT" sz="1600" dirty="0"/>
          </a:p>
          <a:p>
            <a:r>
              <a:rPr lang="it-IT" sz="1600" dirty="0">
                <a:latin typeface="Cascadia Code" panose="020B0609020000020004" pitchFamily="49" charset="0"/>
                <a:ea typeface="Cascadia Code" panose="020B0609020000020004" pitchFamily="49" charset="0"/>
                <a:cs typeface="Cascadia Code" panose="020B0609020000020004" pitchFamily="49" charset="0"/>
              </a:rPr>
              <a:t>merge</a:t>
            </a: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it-IT" sz="1600" b="1" dirty="0">
                <a:latin typeface="Cascadia Code" panose="020B0609020000020004" pitchFamily="49" charset="0"/>
                <a:ea typeface="Cascadia Code" panose="020B0609020000020004" pitchFamily="49" charset="0"/>
                <a:cs typeface="Cascadia Code" panose="020B0609020000020004" pitchFamily="49" charset="0"/>
              </a:rPr>
              <a:t>→ </a:t>
            </a:r>
            <a:r>
              <a:rPr lang="it-IT" sz="1600" b="1" dirty="0" err="1">
                <a:latin typeface="Cascadia Code" panose="020B0609020000020004" pitchFamily="49" charset="0"/>
                <a:ea typeface="Cascadia Code" panose="020B0609020000020004" pitchFamily="49" charset="0"/>
                <a:cs typeface="Cascadia Code" panose="020B0609020000020004" pitchFamily="49" charset="0"/>
              </a:rPr>
              <a:t>traffic</a:t>
            </a:r>
            <a:endParaRPr lang="it-IT" sz="1600" b="1" dirty="0">
              <a:latin typeface="Cascadia Code" panose="020B0609020000020004" pitchFamily="49" charset="0"/>
              <a:ea typeface="Cascadia Code" panose="020B0609020000020004" pitchFamily="49" charset="0"/>
              <a:cs typeface="Cascadia Code" panose="020B0609020000020004" pitchFamily="49" charset="0"/>
            </a:endParaRPr>
          </a:p>
          <a:p>
            <a:r>
              <a:rPr lang="it-IT" sz="1600" dirty="0"/>
              <a:t>The </a:t>
            </a:r>
            <a:r>
              <a:rPr lang="it-IT" sz="1600" dirty="0" err="1"/>
              <a:t>dataframe</a:t>
            </a:r>
            <a:r>
              <a:rPr lang="it-IT" sz="1600" dirty="0"/>
              <a:t> </a:t>
            </a:r>
            <a:r>
              <a:rPr lang="it-IT" sz="1600" dirty="0" err="1"/>
              <a:t>we</a:t>
            </a:r>
            <a:r>
              <a:rPr lang="it-IT" sz="1600" dirty="0"/>
              <a:t> </a:t>
            </a:r>
            <a:r>
              <a:rPr lang="it-IT" sz="1600" dirty="0" err="1"/>
              <a:t>will</a:t>
            </a:r>
            <a:r>
              <a:rPr lang="it-IT" sz="1600" dirty="0"/>
              <a:t> use </a:t>
            </a:r>
            <a:r>
              <a:rPr lang="it-IT" sz="1600" dirty="0" err="1"/>
              <a:t>as</a:t>
            </a:r>
            <a:r>
              <a:rPr lang="it-IT" sz="1600" dirty="0"/>
              <a:t> base for </a:t>
            </a:r>
            <a:r>
              <a:rPr lang="it-IT" sz="1600" dirty="0" err="1"/>
              <a:t>every</a:t>
            </a:r>
            <a:r>
              <a:rPr lang="it-IT" sz="1600" dirty="0"/>
              <a:t> data </a:t>
            </a:r>
            <a:r>
              <a:rPr lang="it-IT" sz="1600" dirty="0" err="1"/>
              <a:t>esploration</a:t>
            </a:r>
            <a:r>
              <a:rPr lang="it-IT" sz="1600" dirty="0"/>
              <a:t> and to generate </a:t>
            </a:r>
            <a:r>
              <a:rPr lang="it-IT" sz="1600" dirty="0" err="1"/>
              <a:t>all</a:t>
            </a:r>
            <a:r>
              <a:rPr lang="it-IT" sz="1600" dirty="0"/>
              <a:t> the </a:t>
            </a:r>
            <a:r>
              <a:rPr lang="it-IT" sz="1600" dirty="0" err="1"/>
              <a:t>tables</a:t>
            </a:r>
            <a:r>
              <a:rPr lang="it-IT" sz="1600" dirty="0"/>
              <a:t> </a:t>
            </a:r>
            <a:r>
              <a:rPr lang="it-IT" sz="1600" dirty="0" err="1"/>
              <a:t>we’ll</a:t>
            </a:r>
            <a:r>
              <a:rPr lang="it-IT" sz="1600" dirty="0"/>
              <a:t> </a:t>
            </a:r>
            <a:r>
              <a:rPr lang="it-IT" sz="1600" dirty="0" err="1"/>
              <a:t>need</a:t>
            </a:r>
            <a:r>
              <a:rPr lang="it-IT" sz="1600" dirty="0"/>
              <a:t> for </a:t>
            </a:r>
            <a:r>
              <a:rPr lang="it-IT" sz="1600" dirty="0" err="1"/>
              <a:t>PowerBI</a:t>
            </a:r>
            <a:r>
              <a:rPr lang="it-IT" sz="1600" dirty="0"/>
              <a:t> ad the end.</a:t>
            </a:r>
          </a:p>
        </p:txBody>
      </p:sp>
    </p:spTree>
    <p:extLst>
      <p:ext uri="{BB962C8B-B14F-4D97-AF65-F5344CB8AC3E}">
        <p14:creationId xmlns:p14="http://schemas.microsoft.com/office/powerpoint/2010/main" val="51645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15DE-1FE9-117C-7A96-86AA380DE300}"/>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3B6E2713-371A-EA47-3A04-92B99A9B2A08}"/>
              </a:ext>
            </a:extLst>
          </p:cNvPr>
          <p:cNvSpPr txBox="1"/>
          <p:nvPr/>
        </p:nvSpPr>
        <p:spPr>
          <a:xfrm>
            <a:off x="835854" y="462214"/>
            <a:ext cx="8309318" cy="307777"/>
          </a:xfrm>
          <a:prstGeom prst="rect">
            <a:avLst/>
          </a:prstGeom>
          <a:noFill/>
        </p:spPr>
        <p:txBody>
          <a:bodyPr wrap="square">
            <a:spAutoFit/>
          </a:bodyPr>
          <a:lstStyle/>
          <a:p>
            <a:r>
              <a:rPr lang="it-IT" sz="1400" b="1" dirty="0" err="1">
                <a:solidFill>
                  <a:schemeClr val="accent2">
                    <a:lumMod val="50000"/>
                  </a:schemeClr>
                </a:solidFill>
                <a:effectLst/>
                <a:latin typeface="+mn-lt"/>
              </a:rPr>
              <a:t>Where</a:t>
            </a:r>
            <a:r>
              <a:rPr lang="it-IT" sz="1400" b="1" dirty="0">
                <a:solidFill>
                  <a:schemeClr val="accent2">
                    <a:lumMod val="50000"/>
                  </a:schemeClr>
                </a:solidFill>
                <a:effectLst/>
                <a:latin typeface="+mn-lt"/>
              </a:rPr>
              <a:t> </a:t>
            </a:r>
            <a:r>
              <a:rPr lang="it-IT" sz="1400" b="1" dirty="0" err="1">
                <a:solidFill>
                  <a:schemeClr val="accent2">
                    <a:lumMod val="50000"/>
                  </a:schemeClr>
                </a:solidFill>
                <a:effectLst/>
                <a:latin typeface="+mn-lt"/>
              </a:rPr>
              <a:t>should</a:t>
            </a:r>
            <a:r>
              <a:rPr lang="it-IT" sz="1400" b="1" dirty="0">
                <a:solidFill>
                  <a:schemeClr val="accent2">
                    <a:lumMod val="50000"/>
                  </a:schemeClr>
                </a:solidFill>
                <a:effectLst/>
                <a:latin typeface="+mn-lt"/>
              </a:rPr>
              <a:t> road-</a:t>
            </a:r>
            <a:r>
              <a:rPr lang="it-IT" sz="1400" b="1" dirty="0" err="1">
                <a:solidFill>
                  <a:schemeClr val="accent2">
                    <a:lumMod val="50000"/>
                  </a:schemeClr>
                </a:solidFill>
                <a:effectLst/>
                <a:latin typeface="+mn-lt"/>
              </a:rPr>
              <a:t>safety</a:t>
            </a:r>
            <a:r>
              <a:rPr lang="it-IT" sz="1400" b="1" dirty="0">
                <a:solidFill>
                  <a:schemeClr val="accent2">
                    <a:lumMod val="50000"/>
                  </a:schemeClr>
                </a:solidFill>
                <a:effectLst/>
                <a:latin typeface="+mn-lt"/>
              </a:rPr>
              <a:t> investment go in Italy?</a:t>
            </a:r>
            <a:endParaRPr lang="it-IT" sz="1400" b="1" dirty="0">
              <a:solidFill>
                <a:schemeClr val="accent2">
                  <a:lumMod val="50000"/>
                </a:schemeClr>
              </a:solidFill>
            </a:endParaRPr>
          </a:p>
        </p:txBody>
      </p:sp>
      <p:sp>
        <p:nvSpPr>
          <p:cNvPr id="4" name="CasellaDiTesto 3">
            <a:extLst>
              <a:ext uri="{FF2B5EF4-FFF2-40B4-BE49-F238E27FC236}">
                <a16:creationId xmlns:a16="http://schemas.microsoft.com/office/drawing/2014/main" id="{C9F12DAE-6454-C241-8BC6-03C37D8B9FFA}"/>
              </a:ext>
            </a:extLst>
          </p:cNvPr>
          <p:cNvSpPr txBox="1"/>
          <p:nvPr/>
        </p:nvSpPr>
        <p:spPr>
          <a:xfrm>
            <a:off x="7085430" y="462214"/>
            <a:ext cx="4270716" cy="307777"/>
          </a:xfrm>
          <a:prstGeom prst="rect">
            <a:avLst/>
          </a:prstGeom>
          <a:noFill/>
        </p:spPr>
        <p:txBody>
          <a:bodyPr wrap="square">
            <a:spAutoFit/>
          </a:bodyPr>
          <a:lstStyle/>
          <a:p>
            <a:pPr algn="r"/>
            <a:r>
              <a:rPr lang="it-IT" sz="1400" i="0" spc="225" dirty="0">
                <a:solidFill>
                  <a:schemeClr val="tx1">
                    <a:lumMod val="65000"/>
                    <a:lumOff val="35000"/>
                  </a:schemeClr>
                </a:solidFill>
                <a:effectLst/>
                <a:latin typeface="+mn-lt"/>
              </a:rPr>
              <a:t>EXPLORATORY ANALYSIS</a:t>
            </a:r>
            <a:endParaRPr lang="it-IT" sz="1400" dirty="0">
              <a:solidFill>
                <a:schemeClr val="tx1">
                  <a:lumMod val="65000"/>
                  <a:lumOff val="35000"/>
                </a:schemeClr>
              </a:solidFill>
            </a:endParaRPr>
          </a:p>
        </p:txBody>
      </p:sp>
      <p:sp>
        <p:nvSpPr>
          <p:cNvPr id="3" name="CasellaDiTesto 2">
            <a:extLst>
              <a:ext uri="{FF2B5EF4-FFF2-40B4-BE49-F238E27FC236}">
                <a16:creationId xmlns:a16="http://schemas.microsoft.com/office/drawing/2014/main" id="{7FCA3EFC-BEBE-8694-6A09-BF971457DC03}"/>
              </a:ext>
            </a:extLst>
          </p:cNvPr>
          <p:cNvSpPr txBox="1"/>
          <p:nvPr/>
        </p:nvSpPr>
        <p:spPr>
          <a:xfrm>
            <a:off x="835854" y="1404618"/>
            <a:ext cx="5072576" cy="369332"/>
          </a:xfrm>
          <a:prstGeom prst="rect">
            <a:avLst/>
          </a:prstGeom>
          <a:noFill/>
        </p:spPr>
        <p:txBody>
          <a:bodyPr wrap="square">
            <a:spAutoFit/>
          </a:bodyPr>
          <a:lstStyle/>
          <a:p>
            <a:r>
              <a:rPr lang="it-IT" b="1" spc="225" dirty="0">
                <a:solidFill>
                  <a:schemeClr val="accent2">
                    <a:lumMod val="50000"/>
                  </a:schemeClr>
                </a:solidFill>
              </a:rPr>
              <a:t>1. </a:t>
            </a:r>
            <a:r>
              <a:rPr lang="it-IT" b="1" spc="225" dirty="0" err="1">
                <a:solidFill>
                  <a:schemeClr val="accent2">
                    <a:lumMod val="50000"/>
                  </a:schemeClr>
                </a:solidFill>
              </a:rPr>
              <a:t>Metric</a:t>
            </a:r>
            <a:r>
              <a:rPr lang="it-IT" b="1" spc="225" dirty="0">
                <a:solidFill>
                  <a:schemeClr val="accent2">
                    <a:lumMod val="50000"/>
                  </a:schemeClr>
                </a:solidFill>
              </a:rPr>
              <a:t> </a:t>
            </a:r>
            <a:r>
              <a:rPr lang="it-IT" b="1" spc="225" dirty="0" err="1">
                <a:solidFill>
                  <a:schemeClr val="accent2">
                    <a:lumMod val="50000"/>
                  </a:schemeClr>
                </a:solidFill>
              </a:rPr>
              <a:t>definition</a:t>
            </a:r>
            <a:endParaRPr lang="it-IT" dirty="0">
              <a:solidFill>
                <a:schemeClr val="accent2">
                  <a:lumMod val="50000"/>
                </a:schemeClr>
              </a:solidFill>
            </a:endParaRPr>
          </a:p>
        </p:txBody>
      </p:sp>
      <p:sp>
        <p:nvSpPr>
          <p:cNvPr id="6" name="CasellaDiTesto 5">
            <a:extLst>
              <a:ext uri="{FF2B5EF4-FFF2-40B4-BE49-F238E27FC236}">
                <a16:creationId xmlns:a16="http://schemas.microsoft.com/office/drawing/2014/main" id="{66850909-4D0B-212F-0A11-4EF4A5AFA76F}"/>
              </a:ext>
            </a:extLst>
          </p:cNvPr>
          <p:cNvSpPr txBox="1"/>
          <p:nvPr/>
        </p:nvSpPr>
        <p:spPr>
          <a:xfrm>
            <a:off x="835855" y="1757582"/>
            <a:ext cx="5072576" cy="1077218"/>
          </a:xfrm>
          <a:prstGeom prst="rect">
            <a:avLst/>
          </a:prstGeom>
          <a:noFill/>
        </p:spPr>
        <p:txBody>
          <a:bodyPr wrap="square">
            <a:spAutoFit/>
          </a:bodyPr>
          <a:lstStyle/>
          <a:p>
            <a:pPr marL="285750" indent="-285750">
              <a:buFont typeface="Arial" panose="020B0604020202020204" pitchFamily="34" charset="0"/>
              <a:buChar char="•"/>
            </a:pPr>
            <a:r>
              <a:rPr lang="en-US" sz="1600" dirty="0"/>
              <a:t>Accidents per 1000 residents per year</a:t>
            </a:r>
          </a:p>
          <a:p>
            <a:pPr marL="285750" indent="-285750">
              <a:buFont typeface="Arial" panose="020B0604020202020204" pitchFamily="34" charset="0"/>
              <a:buChar char="•"/>
            </a:pPr>
            <a:r>
              <a:rPr lang="en-US" sz="1600" dirty="0"/>
              <a:t>Injured per accident</a:t>
            </a:r>
          </a:p>
          <a:p>
            <a:pPr marL="285750" indent="-285750">
              <a:buFont typeface="Arial" panose="020B0604020202020204" pitchFamily="34" charset="0"/>
              <a:buChar char="•"/>
            </a:pPr>
            <a:r>
              <a:rPr lang="en-US" sz="1600" dirty="0"/>
              <a:t>Killed per 100 accidents</a:t>
            </a:r>
          </a:p>
          <a:p>
            <a:pPr marL="285750" indent="-285750">
              <a:buFont typeface="Arial" panose="020B0604020202020204" pitchFamily="34" charset="0"/>
              <a:buChar char="•"/>
            </a:pPr>
            <a:r>
              <a:rPr lang="en-US" sz="1600" dirty="0"/>
              <a:t>Density (residents per km²)</a:t>
            </a:r>
          </a:p>
        </p:txBody>
      </p:sp>
      <p:sp>
        <p:nvSpPr>
          <p:cNvPr id="19" name="CasellaDiTesto 18">
            <a:extLst>
              <a:ext uri="{FF2B5EF4-FFF2-40B4-BE49-F238E27FC236}">
                <a16:creationId xmlns:a16="http://schemas.microsoft.com/office/drawing/2014/main" id="{FE0F1F0A-86F2-35D3-8350-428F6C8BF39A}"/>
              </a:ext>
            </a:extLst>
          </p:cNvPr>
          <p:cNvSpPr txBox="1"/>
          <p:nvPr/>
        </p:nvSpPr>
        <p:spPr>
          <a:xfrm>
            <a:off x="835854" y="2923099"/>
            <a:ext cx="5072576" cy="369332"/>
          </a:xfrm>
          <a:prstGeom prst="rect">
            <a:avLst/>
          </a:prstGeom>
          <a:noFill/>
        </p:spPr>
        <p:txBody>
          <a:bodyPr wrap="square">
            <a:spAutoFit/>
          </a:bodyPr>
          <a:lstStyle/>
          <a:p>
            <a:r>
              <a:rPr lang="it-IT" sz="1800" b="1" i="0" spc="225" dirty="0">
                <a:solidFill>
                  <a:schemeClr val="accent2">
                    <a:lumMod val="50000"/>
                  </a:schemeClr>
                </a:solidFill>
                <a:effectLst/>
                <a:latin typeface="+mn-lt"/>
              </a:rPr>
              <a:t>2. National Trends</a:t>
            </a:r>
            <a:endParaRPr lang="it-IT" dirty="0">
              <a:solidFill>
                <a:schemeClr val="accent2">
                  <a:lumMod val="50000"/>
                </a:schemeClr>
              </a:solidFill>
            </a:endParaRPr>
          </a:p>
        </p:txBody>
      </p:sp>
      <p:sp>
        <p:nvSpPr>
          <p:cNvPr id="21" name="CasellaDiTesto 20">
            <a:extLst>
              <a:ext uri="{FF2B5EF4-FFF2-40B4-BE49-F238E27FC236}">
                <a16:creationId xmlns:a16="http://schemas.microsoft.com/office/drawing/2014/main" id="{DEFF0805-6F7F-4B12-5A8D-75346334DCE4}"/>
              </a:ext>
            </a:extLst>
          </p:cNvPr>
          <p:cNvSpPr txBox="1"/>
          <p:nvPr/>
        </p:nvSpPr>
        <p:spPr>
          <a:xfrm>
            <a:off x="835854" y="3259723"/>
            <a:ext cx="5166359" cy="1815882"/>
          </a:xfrm>
          <a:prstGeom prst="rect">
            <a:avLst/>
          </a:prstGeom>
          <a:noFill/>
        </p:spPr>
        <p:txBody>
          <a:bodyPr wrap="square">
            <a:spAutoFit/>
          </a:bodyPr>
          <a:lstStyle/>
          <a:p>
            <a:pPr marL="285750" indent="-285750">
              <a:buFont typeface="Arial" panose="020B0604020202020204" pitchFamily="34" charset="0"/>
              <a:buChar char="•"/>
            </a:pPr>
            <a:r>
              <a:rPr lang="it-IT" sz="1600" dirty="0"/>
              <a:t>Visual </a:t>
            </a:r>
            <a:r>
              <a:rPr lang="it-IT" sz="1600" dirty="0" err="1"/>
              <a:t>comparison</a:t>
            </a:r>
            <a:r>
              <a:rPr lang="it-IT" sz="1600" dirty="0"/>
              <a:t> via line plot to check for </a:t>
            </a:r>
            <a:r>
              <a:rPr lang="it-IT" sz="1600" dirty="0" err="1"/>
              <a:t>change</a:t>
            </a:r>
            <a:r>
              <a:rPr lang="it-IT" sz="1600" dirty="0"/>
              <a:t> in rate of </a:t>
            </a:r>
            <a:r>
              <a:rPr lang="it-IT" sz="1600" dirty="0" err="1"/>
              <a:t>accidents</a:t>
            </a:r>
            <a:r>
              <a:rPr lang="it-IT" sz="1600" dirty="0"/>
              <a:t> vs </a:t>
            </a:r>
            <a:r>
              <a:rPr lang="it-IT" sz="1600" dirty="0" err="1"/>
              <a:t>accidents</a:t>
            </a:r>
            <a:r>
              <a:rPr lang="it-IT" sz="1600" dirty="0"/>
              <a:t> relative to </a:t>
            </a:r>
            <a:r>
              <a:rPr lang="it-IT" sz="1600" dirty="0" err="1"/>
              <a:t>population</a:t>
            </a:r>
            <a:r>
              <a:rPr lang="it-IT" sz="1600" dirty="0"/>
              <a:t> (</a:t>
            </a:r>
            <a:r>
              <a:rPr lang="it-IT" sz="1600" dirty="0" err="1"/>
              <a:t>appears</a:t>
            </a:r>
            <a:r>
              <a:rPr lang="it-IT" sz="1600" dirty="0"/>
              <a:t> to be none)</a:t>
            </a:r>
          </a:p>
          <a:p>
            <a:pPr marL="285750" indent="-285750">
              <a:buFont typeface="Arial" panose="020B0604020202020204" pitchFamily="34" charset="0"/>
              <a:buChar char="•"/>
            </a:pPr>
            <a:r>
              <a:rPr lang="it-IT" sz="1600" dirty="0"/>
              <a:t>A big dip </a:t>
            </a:r>
            <a:r>
              <a:rPr lang="it-IT" sz="1600" dirty="0" err="1"/>
              <a:t>appear</a:t>
            </a:r>
            <a:r>
              <a:rPr lang="it-IT" sz="1600" dirty="0"/>
              <a:t> (</a:t>
            </a:r>
            <a:r>
              <a:rPr lang="it-IT" sz="1600" dirty="0" err="1"/>
              <a:t>it’s</a:t>
            </a:r>
            <a:r>
              <a:rPr lang="it-IT" sz="1600" dirty="0"/>
              <a:t> 2020-21 </a:t>
            </a:r>
            <a:r>
              <a:rPr lang="it-IT" sz="1600" dirty="0" err="1"/>
              <a:t>because</a:t>
            </a:r>
            <a:r>
              <a:rPr lang="it-IT" sz="1600" dirty="0"/>
              <a:t> of COVID), </a:t>
            </a:r>
            <a:r>
              <a:rPr lang="it-IT" sz="1600" dirty="0" err="1"/>
              <a:t>further</a:t>
            </a:r>
            <a:r>
              <a:rPr lang="it-IT" sz="1600" dirty="0"/>
              <a:t> visual testing </a:t>
            </a:r>
            <a:r>
              <a:rPr lang="it-IT" sz="1600" dirty="0" err="1"/>
              <a:t>comparing</a:t>
            </a:r>
            <a:r>
              <a:rPr lang="it-IT" sz="1600" dirty="0"/>
              <a:t> </a:t>
            </a:r>
            <a:r>
              <a:rPr lang="it-IT" sz="1600" dirty="0" err="1"/>
              <a:t>regression</a:t>
            </a:r>
            <a:r>
              <a:rPr lang="it-IT" sz="1600" dirty="0"/>
              <a:t> plot with/</a:t>
            </a:r>
            <a:r>
              <a:rPr lang="it-IT" sz="1600" dirty="0" err="1"/>
              <a:t>without</a:t>
            </a:r>
            <a:r>
              <a:rPr lang="it-IT" sz="1600" dirty="0"/>
              <a:t> 2020 (small </a:t>
            </a:r>
            <a:r>
              <a:rPr lang="it-IT" sz="1600" dirty="0" err="1"/>
              <a:t>difference</a:t>
            </a:r>
            <a:r>
              <a:rPr lang="it-IT" sz="1600" dirty="0"/>
              <a:t>, </a:t>
            </a:r>
            <a:r>
              <a:rPr lang="it-IT" sz="1600" dirty="0" err="1"/>
              <a:t>it</a:t>
            </a:r>
            <a:r>
              <a:rPr lang="it-IT" sz="1600" dirty="0"/>
              <a:t> can be </a:t>
            </a:r>
            <a:r>
              <a:rPr lang="it-IT" sz="1600" dirty="0" err="1"/>
              <a:t>considered</a:t>
            </a:r>
            <a:r>
              <a:rPr lang="it-IT" sz="1600" dirty="0"/>
              <a:t> </a:t>
            </a:r>
            <a:r>
              <a:rPr lang="it-IT" sz="1600" dirty="0" err="1"/>
              <a:t>outlier</a:t>
            </a:r>
            <a:r>
              <a:rPr lang="it-IT" sz="1600" dirty="0"/>
              <a:t>)</a:t>
            </a:r>
          </a:p>
        </p:txBody>
      </p:sp>
      <p:sp>
        <p:nvSpPr>
          <p:cNvPr id="23" name="Rettangolo con angoli arrotondati 22">
            <a:extLst>
              <a:ext uri="{FF2B5EF4-FFF2-40B4-BE49-F238E27FC236}">
                <a16:creationId xmlns:a16="http://schemas.microsoft.com/office/drawing/2014/main" id="{37DD0757-EAD8-2525-29AA-E03AB78F4FD6}"/>
              </a:ext>
            </a:extLst>
          </p:cNvPr>
          <p:cNvSpPr/>
          <p:nvPr/>
        </p:nvSpPr>
        <p:spPr>
          <a:xfrm>
            <a:off x="1056246" y="5179759"/>
            <a:ext cx="4852184" cy="12048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err="1">
                <a:solidFill>
                  <a:schemeClr val="tx1"/>
                </a:solidFill>
              </a:rPr>
              <a:t>Ideas</a:t>
            </a:r>
            <a:r>
              <a:rPr lang="it-IT" sz="1400" b="1" dirty="0">
                <a:solidFill>
                  <a:schemeClr val="tx1"/>
                </a:solidFill>
              </a:rPr>
              <a:t> I </a:t>
            </a:r>
            <a:r>
              <a:rPr lang="it-IT" sz="1400" b="1" dirty="0" err="1">
                <a:solidFill>
                  <a:schemeClr val="tx1"/>
                </a:solidFill>
              </a:rPr>
              <a:t>hade</a:t>
            </a:r>
            <a:r>
              <a:rPr lang="it-IT" sz="1400" b="1" dirty="0">
                <a:solidFill>
                  <a:schemeClr val="tx1"/>
                </a:solidFill>
              </a:rPr>
              <a:t> </a:t>
            </a:r>
            <a:r>
              <a:rPr lang="it-IT" sz="1400" b="1" dirty="0" err="1">
                <a:solidFill>
                  <a:schemeClr val="tx1"/>
                </a:solidFill>
              </a:rPr>
              <a:t>before</a:t>
            </a:r>
            <a:r>
              <a:rPr lang="it-IT" sz="1400" b="1" dirty="0">
                <a:solidFill>
                  <a:schemeClr val="tx1"/>
                </a:solidFill>
              </a:rPr>
              <a:t>:</a:t>
            </a:r>
          </a:p>
          <a:p>
            <a:pPr marL="171450" indent="-171450">
              <a:buFont typeface="Arial" panose="020B0604020202020204" pitchFamily="34" charset="0"/>
              <a:buChar char="•"/>
            </a:pPr>
            <a:r>
              <a:rPr lang="it-IT" sz="1400" dirty="0">
                <a:solidFill>
                  <a:schemeClr val="tx1"/>
                </a:solidFill>
              </a:rPr>
              <a:t>I </a:t>
            </a:r>
            <a:r>
              <a:rPr lang="it-IT" sz="1400" dirty="0" err="1">
                <a:solidFill>
                  <a:schemeClr val="tx1"/>
                </a:solidFill>
              </a:rPr>
              <a:t>thought</a:t>
            </a:r>
            <a:r>
              <a:rPr lang="it-IT" sz="1400" dirty="0">
                <a:solidFill>
                  <a:schemeClr val="tx1"/>
                </a:solidFill>
              </a:rPr>
              <a:t> </a:t>
            </a:r>
            <a:r>
              <a:rPr lang="it-IT" sz="1400" dirty="0" err="1">
                <a:solidFill>
                  <a:schemeClr val="tx1"/>
                </a:solidFill>
              </a:rPr>
              <a:t>there</a:t>
            </a:r>
            <a:r>
              <a:rPr lang="it-IT" sz="1400" dirty="0">
                <a:solidFill>
                  <a:schemeClr val="tx1"/>
                </a:solidFill>
              </a:rPr>
              <a:t> </a:t>
            </a:r>
            <a:r>
              <a:rPr lang="it-IT" sz="1400" dirty="0" err="1">
                <a:solidFill>
                  <a:schemeClr val="tx1"/>
                </a:solidFill>
              </a:rPr>
              <a:t>was</a:t>
            </a:r>
            <a:r>
              <a:rPr lang="it-IT" sz="1400" dirty="0">
                <a:solidFill>
                  <a:schemeClr val="tx1"/>
                </a:solidFill>
              </a:rPr>
              <a:t> a strong </a:t>
            </a:r>
            <a:r>
              <a:rPr lang="it-IT" sz="1400" dirty="0" err="1">
                <a:solidFill>
                  <a:schemeClr val="tx1"/>
                </a:solidFill>
              </a:rPr>
              <a:t>correlation</a:t>
            </a:r>
            <a:r>
              <a:rPr lang="it-IT" sz="1400" dirty="0">
                <a:solidFill>
                  <a:schemeClr val="tx1"/>
                </a:solidFill>
              </a:rPr>
              <a:t> </a:t>
            </a:r>
            <a:r>
              <a:rPr lang="it-IT" sz="1400" dirty="0" err="1">
                <a:solidFill>
                  <a:schemeClr val="tx1"/>
                </a:solidFill>
              </a:rPr>
              <a:t>between</a:t>
            </a:r>
            <a:r>
              <a:rPr lang="it-IT" sz="1400" dirty="0">
                <a:solidFill>
                  <a:schemeClr val="tx1"/>
                </a:solidFill>
              </a:rPr>
              <a:t> </a:t>
            </a:r>
            <a:r>
              <a:rPr lang="it-IT" sz="1400" dirty="0" err="1">
                <a:solidFill>
                  <a:schemeClr val="tx1"/>
                </a:solidFill>
              </a:rPr>
              <a:t>number</a:t>
            </a:r>
            <a:r>
              <a:rPr lang="it-IT" sz="1400" dirty="0">
                <a:solidFill>
                  <a:schemeClr val="tx1"/>
                </a:solidFill>
              </a:rPr>
              <a:t> of </a:t>
            </a:r>
            <a:r>
              <a:rPr lang="it-IT" sz="1400" dirty="0" err="1">
                <a:solidFill>
                  <a:schemeClr val="tx1"/>
                </a:solidFill>
              </a:rPr>
              <a:t>residents</a:t>
            </a:r>
            <a:r>
              <a:rPr lang="it-IT" sz="1400" dirty="0">
                <a:solidFill>
                  <a:schemeClr val="tx1"/>
                </a:solidFill>
              </a:rPr>
              <a:t> and </a:t>
            </a:r>
            <a:r>
              <a:rPr lang="it-IT" sz="1400" dirty="0" err="1">
                <a:solidFill>
                  <a:schemeClr val="tx1"/>
                </a:solidFill>
              </a:rPr>
              <a:t>accidents</a:t>
            </a:r>
            <a:endParaRPr lang="it-IT" sz="1400" dirty="0">
              <a:solidFill>
                <a:schemeClr val="tx1"/>
              </a:solidFill>
            </a:endParaRPr>
          </a:p>
          <a:p>
            <a:pPr marL="171450" indent="-171450">
              <a:buFont typeface="Arial" panose="020B0604020202020204" pitchFamily="34" charset="0"/>
              <a:buChar char="•"/>
            </a:pPr>
            <a:r>
              <a:rPr lang="it-IT" sz="1400" dirty="0">
                <a:solidFill>
                  <a:schemeClr val="tx1"/>
                </a:solidFill>
              </a:rPr>
              <a:t>I </a:t>
            </a:r>
            <a:r>
              <a:rPr lang="it-IT" sz="1400" dirty="0" err="1">
                <a:solidFill>
                  <a:schemeClr val="tx1"/>
                </a:solidFill>
              </a:rPr>
              <a:t>thought</a:t>
            </a:r>
            <a:r>
              <a:rPr lang="it-IT" sz="1400" dirty="0">
                <a:solidFill>
                  <a:schemeClr val="tx1"/>
                </a:solidFill>
              </a:rPr>
              <a:t> </a:t>
            </a:r>
            <a:r>
              <a:rPr lang="it-IT" sz="1400" dirty="0" err="1">
                <a:solidFill>
                  <a:schemeClr val="tx1"/>
                </a:solidFill>
              </a:rPr>
              <a:t>that</a:t>
            </a:r>
            <a:r>
              <a:rPr lang="it-IT" sz="1400" dirty="0">
                <a:solidFill>
                  <a:schemeClr val="tx1"/>
                </a:solidFill>
              </a:rPr>
              <a:t> COVID </a:t>
            </a:r>
            <a:r>
              <a:rPr lang="it-IT" sz="1400" dirty="0" err="1">
                <a:solidFill>
                  <a:schemeClr val="tx1"/>
                </a:solidFill>
              </a:rPr>
              <a:t>might</a:t>
            </a:r>
            <a:r>
              <a:rPr lang="it-IT" sz="1400" dirty="0">
                <a:solidFill>
                  <a:schemeClr val="tx1"/>
                </a:solidFill>
              </a:rPr>
              <a:t> </a:t>
            </a:r>
            <a:r>
              <a:rPr lang="it-IT" sz="1400" dirty="0" err="1">
                <a:solidFill>
                  <a:schemeClr val="tx1"/>
                </a:solidFill>
              </a:rPr>
              <a:t>had</a:t>
            </a:r>
            <a:r>
              <a:rPr lang="it-IT" sz="1400" dirty="0">
                <a:solidFill>
                  <a:schemeClr val="tx1"/>
                </a:solidFill>
              </a:rPr>
              <a:t> some lasting </a:t>
            </a:r>
            <a:r>
              <a:rPr lang="it-IT" sz="1400" dirty="0" err="1">
                <a:solidFill>
                  <a:schemeClr val="tx1"/>
                </a:solidFill>
              </a:rPr>
              <a:t>effects</a:t>
            </a:r>
            <a:endParaRPr lang="it-IT" sz="1400" dirty="0">
              <a:solidFill>
                <a:schemeClr val="tx1"/>
              </a:solidFill>
            </a:endParaRPr>
          </a:p>
        </p:txBody>
      </p:sp>
      <p:sp>
        <p:nvSpPr>
          <p:cNvPr id="25" name="CasellaDiTesto 24">
            <a:extLst>
              <a:ext uri="{FF2B5EF4-FFF2-40B4-BE49-F238E27FC236}">
                <a16:creationId xmlns:a16="http://schemas.microsoft.com/office/drawing/2014/main" id="{12FC2F24-491C-0960-24BC-CE841C462549}"/>
              </a:ext>
            </a:extLst>
          </p:cNvPr>
          <p:cNvSpPr txBox="1"/>
          <p:nvPr/>
        </p:nvSpPr>
        <p:spPr>
          <a:xfrm>
            <a:off x="6840414" y="1404618"/>
            <a:ext cx="4270717" cy="369332"/>
          </a:xfrm>
          <a:prstGeom prst="rect">
            <a:avLst/>
          </a:prstGeom>
          <a:noFill/>
        </p:spPr>
        <p:txBody>
          <a:bodyPr wrap="square">
            <a:spAutoFit/>
          </a:bodyPr>
          <a:lstStyle/>
          <a:p>
            <a:r>
              <a:rPr lang="it-IT" sz="1800" b="1" i="0" spc="225" dirty="0">
                <a:solidFill>
                  <a:schemeClr val="accent2">
                    <a:lumMod val="50000"/>
                  </a:schemeClr>
                </a:solidFill>
                <a:effectLst/>
                <a:latin typeface="+mn-lt"/>
              </a:rPr>
              <a:t>3. Regional Trends</a:t>
            </a:r>
            <a:endParaRPr lang="it-IT" dirty="0">
              <a:solidFill>
                <a:schemeClr val="accent2">
                  <a:lumMod val="50000"/>
                </a:schemeClr>
              </a:solidFill>
            </a:endParaRPr>
          </a:p>
        </p:txBody>
      </p:sp>
      <p:sp>
        <p:nvSpPr>
          <p:cNvPr id="27" name="CasellaDiTesto 26">
            <a:extLst>
              <a:ext uri="{FF2B5EF4-FFF2-40B4-BE49-F238E27FC236}">
                <a16:creationId xmlns:a16="http://schemas.microsoft.com/office/drawing/2014/main" id="{1FBA5A0F-2FF6-1FA8-D7AF-B918236076C3}"/>
              </a:ext>
            </a:extLst>
          </p:cNvPr>
          <p:cNvSpPr txBox="1"/>
          <p:nvPr/>
        </p:nvSpPr>
        <p:spPr>
          <a:xfrm>
            <a:off x="6840413" y="1749515"/>
            <a:ext cx="4270715" cy="1077218"/>
          </a:xfrm>
          <a:prstGeom prst="rect">
            <a:avLst/>
          </a:prstGeom>
          <a:noFill/>
        </p:spPr>
        <p:txBody>
          <a:bodyPr wrap="square">
            <a:spAutoFit/>
          </a:bodyPr>
          <a:lstStyle/>
          <a:p>
            <a:r>
              <a:rPr lang="it-IT" sz="1600" dirty="0" err="1">
                <a:latin typeface="+mj-lt"/>
              </a:rPr>
              <a:t>Built</a:t>
            </a:r>
            <a:r>
              <a:rPr lang="it-IT" sz="1600" dirty="0">
                <a:latin typeface="+mj-lt"/>
              </a:rPr>
              <a:t> </a:t>
            </a:r>
            <a:r>
              <a:rPr lang="it-IT" sz="1600" dirty="0" err="1">
                <a:latin typeface="+mj-lt"/>
              </a:rPr>
              <a:t>two</a:t>
            </a:r>
            <a:r>
              <a:rPr lang="it-IT" sz="1600" dirty="0">
                <a:latin typeface="+mj-lt"/>
              </a:rPr>
              <a:t> </a:t>
            </a:r>
            <a:r>
              <a:rPr lang="it-IT" sz="1600" dirty="0" err="1">
                <a:latin typeface="+mj-lt"/>
              </a:rPr>
              <a:t>heatmap</a:t>
            </a:r>
            <a:r>
              <a:rPr lang="it-IT" sz="1600" dirty="0">
                <a:latin typeface="+mj-lt"/>
              </a:rPr>
              <a:t> to compare</a:t>
            </a:r>
          </a:p>
          <a:p>
            <a:pPr marL="285750" indent="-285750">
              <a:buFont typeface="Arial" panose="020B0604020202020204" pitchFamily="34" charset="0"/>
              <a:buChar char="•"/>
            </a:pPr>
            <a:r>
              <a:rPr lang="it-IT" sz="1600" dirty="0">
                <a:latin typeface="+mj-lt"/>
              </a:rPr>
              <a:t>Time </a:t>
            </a:r>
            <a:r>
              <a:rPr lang="it-IT" sz="1600" dirty="0" err="1">
                <a:latin typeface="+mj-lt"/>
              </a:rPr>
              <a:t>progressions</a:t>
            </a:r>
            <a:r>
              <a:rPr lang="it-IT" sz="1600" dirty="0">
                <a:latin typeface="+mj-lt"/>
              </a:rPr>
              <a:t> in the </a:t>
            </a:r>
            <a:r>
              <a:rPr lang="it-IT" sz="1600" dirty="0" err="1">
                <a:latin typeface="+mj-lt"/>
              </a:rPr>
              <a:t>regions</a:t>
            </a:r>
            <a:r>
              <a:rPr lang="it-IT" sz="1600" dirty="0">
                <a:latin typeface="+mj-lt"/>
              </a:rPr>
              <a:t> (</a:t>
            </a:r>
            <a:r>
              <a:rPr lang="it-IT" sz="1600" dirty="0" err="1">
                <a:latin typeface="+mj-lt"/>
              </a:rPr>
              <a:t>divided</a:t>
            </a:r>
            <a:r>
              <a:rPr lang="it-IT" sz="1600" dirty="0">
                <a:latin typeface="+mj-lt"/>
              </a:rPr>
              <a:t> in </a:t>
            </a:r>
            <a:r>
              <a:rPr lang="it-IT" sz="1600" dirty="0" err="1">
                <a:latin typeface="+mj-lt"/>
              </a:rPr>
              <a:t>three</a:t>
            </a:r>
            <a:r>
              <a:rPr lang="it-IT" sz="1600" dirty="0">
                <a:latin typeface="+mj-lt"/>
              </a:rPr>
              <a:t> «</a:t>
            </a:r>
            <a:r>
              <a:rPr lang="it-IT" sz="1600" dirty="0" err="1">
                <a:latin typeface="+mj-lt"/>
              </a:rPr>
              <a:t>phases</a:t>
            </a:r>
            <a:r>
              <a:rPr lang="it-IT" sz="1600" dirty="0">
                <a:latin typeface="+mj-lt"/>
              </a:rPr>
              <a:t>»,</a:t>
            </a:r>
          </a:p>
          <a:p>
            <a:pPr marL="285750" indent="-285750">
              <a:buFont typeface="Arial" panose="020B0604020202020204" pitchFamily="34" charset="0"/>
              <a:buChar char="•"/>
            </a:pPr>
            <a:r>
              <a:rPr lang="it-IT" sz="1600" dirty="0">
                <a:latin typeface="+mj-lt"/>
              </a:rPr>
              <a:t>Drivers of </a:t>
            </a:r>
            <a:r>
              <a:rPr lang="it-IT" sz="1600" dirty="0" err="1">
                <a:latin typeface="+mj-lt"/>
              </a:rPr>
              <a:t>change</a:t>
            </a:r>
            <a:r>
              <a:rPr lang="it-IT" sz="1600" dirty="0">
                <a:latin typeface="+mj-lt"/>
              </a:rPr>
              <a:t> (</a:t>
            </a:r>
            <a:r>
              <a:rPr lang="it-IT" sz="1600" dirty="0" err="1">
                <a:latin typeface="+mj-lt"/>
              </a:rPr>
              <a:t>eg</a:t>
            </a:r>
            <a:r>
              <a:rPr lang="it-IT" sz="1600" dirty="0">
                <a:latin typeface="+mj-lt"/>
              </a:rPr>
              <a:t>. </a:t>
            </a:r>
            <a:r>
              <a:rPr lang="it-IT" sz="1600" dirty="0" err="1">
                <a:latin typeface="+mj-lt"/>
              </a:rPr>
              <a:t>Internal</a:t>
            </a:r>
            <a:r>
              <a:rPr lang="it-IT" sz="1600" dirty="0">
                <a:latin typeface="+mj-lt"/>
              </a:rPr>
              <a:t> </a:t>
            </a:r>
            <a:r>
              <a:rPr lang="it-IT" sz="1600" dirty="0" err="1">
                <a:latin typeface="+mj-lt"/>
              </a:rPr>
              <a:t>migration</a:t>
            </a:r>
            <a:r>
              <a:rPr lang="it-IT" sz="1600" dirty="0">
                <a:latin typeface="+mj-lt"/>
              </a:rPr>
              <a:t>)</a:t>
            </a:r>
          </a:p>
        </p:txBody>
      </p:sp>
      <p:sp>
        <p:nvSpPr>
          <p:cNvPr id="31" name="CasellaDiTesto 30">
            <a:extLst>
              <a:ext uri="{FF2B5EF4-FFF2-40B4-BE49-F238E27FC236}">
                <a16:creationId xmlns:a16="http://schemas.microsoft.com/office/drawing/2014/main" id="{E7BCA730-71BF-7666-18E7-605B3AD17607}"/>
              </a:ext>
            </a:extLst>
          </p:cNvPr>
          <p:cNvSpPr txBox="1"/>
          <p:nvPr/>
        </p:nvSpPr>
        <p:spPr>
          <a:xfrm>
            <a:off x="6840414" y="2917262"/>
            <a:ext cx="4270717" cy="369332"/>
          </a:xfrm>
          <a:prstGeom prst="rect">
            <a:avLst/>
          </a:prstGeom>
          <a:noFill/>
        </p:spPr>
        <p:txBody>
          <a:bodyPr wrap="square">
            <a:spAutoFit/>
          </a:bodyPr>
          <a:lstStyle/>
          <a:p>
            <a:r>
              <a:rPr lang="it-IT" sz="1800" b="1" i="0" spc="225" dirty="0">
                <a:solidFill>
                  <a:schemeClr val="accent2">
                    <a:lumMod val="50000"/>
                  </a:schemeClr>
                </a:solidFill>
                <a:effectLst/>
                <a:latin typeface="+mn-lt"/>
              </a:rPr>
              <a:t>4. </a:t>
            </a:r>
            <a:r>
              <a:rPr lang="it-IT" sz="1800" b="1" i="0" spc="225" dirty="0" err="1">
                <a:solidFill>
                  <a:schemeClr val="accent2">
                    <a:lumMod val="50000"/>
                  </a:schemeClr>
                </a:solidFill>
                <a:effectLst/>
                <a:latin typeface="+mn-lt"/>
              </a:rPr>
              <a:t>Municipal</a:t>
            </a:r>
            <a:r>
              <a:rPr lang="it-IT" sz="1800" b="1" i="0" spc="225" dirty="0">
                <a:solidFill>
                  <a:schemeClr val="accent2">
                    <a:lumMod val="50000"/>
                  </a:schemeClr>
                </a:solidFill>
                <a:effectLst/>
                <a:latin typeface="+mn-lt"/>
              </a:rPr>
              <a:t> </a:t>
            </a:r>
            <a:r>
              <a:rPr lang="it-IT" sz="1800" b="1" i="0" spc="225" dirty="0" err="1">
                <a:solidFill>
                  <a:schemeClr val="accent2">
                    <a:lumMod val="50000"/>
                  </a:schemeClr>
                </a:solidFill>
                <a:effectLst/>
                <a:latin typeface="+mn-lt"/>
              </a:rPr>
              <a:t>level</a:t>
            </a:r>
            <a:endParaRPr lang="it-IT" dirty="0">
              <a:solidFill>
                <a:schemeClr val="accent2">
                  <a:lumMod val="50000"/>
                </a:schemeClr>
              </a:solidFill>
            </a:endParaRPr>
          </a:p>
        </p:txBody>
      </p:sp>
      <p:sp>
        <p:nvSpPr>
          <p:cNvPr id="33" name="CasellaDiTesto 32">
            <a:extLst>
              <a:ext uri="{FF2B5EF4-FFF2-40B4-BE49-F238E27FC236}">
                <a16:creationId xmlns:a16="http://schemas.microsoft.com/office/drawing/2014/main" id="{C7FB7809-B330-4E69-F961-9B0E80218257}"/>
              </a:ext>
            </a:extLst>
          </p:cNvPr>
          <p:cNvSpPr txBox="1"/>
          <p:nvPr/>
        </p:nvSpPr>
        <p:spPr>
          <a:xfrm>
            <a:off x="6840413" y="3262159"/>
            <a:ext cx="4270715" cy="1323439"/>
          </a:xfrm>
          <a:prstGeom prst="rect">
            <a:avLst/>
          </a:prstGeom>
          <a:noFill/>
        </p:spPr>
        <p:txBody>
          <a:bodyPr wrap="square">
            <a:spAutoFit/>
          </a:bodyPr>
          <a:lstStyle/>
          <a:p>
            <a:pPr marL="285750" indent="-285750">
              <a:buFont typeface="Arial" panose="020B0604020202020204" pitchFamily="34" charset="0"/>
              <a:buChar char="•"/>
            </a:pPr>
            <a:r>
              <a:rPr lang="it-IT" sz="1600" dirty="0" err="1">
                <a:latin typeface="+mj-lt"/>
              </a:rPr>
              <a:t>Scatterplots</a:t>
            </a:r>
            <a:r>
              <a:rPr lang="it-IT" sz="1600" dirty="0">
                <a:latin typeface="+mj-lt"/>
              </a:rPr>
              <a:t> (</a:t>
            </a:r>
            <a:r>
              <a:rPr lang="it-IT" sz="1600" dirty="0" err="1">
                <a:latin typeface="+mj-lt"/>
              </a:rPr>
              <a:t>density</a:t>
            </a:r>
            <a:r>
              <a:rPr lang="it-IT" sz="1600" dirty="0">
                <a:latin typeface="+mj-lt"/>
              </a:rPr>
              <a:t> in log scale vs </a:t>
            </a:r>
            <a:r>
              <a:rPr lang="it-IT" sz="1600" dirty="0" err="1">
                <a:latin typeface="+mj-lt"/>
              </a:rPr>
              <a:t>accidents</a:t>
            </a:r>
            <a:r>
              <a:rPr lang="it-IT" sz="1600" dirty="0">
                <a:latin typeface="+mj-lt"/>
              </a:rPr>
              <a:t>) </a:t>
            </a:r>
            <a:r>
              <a:rPr lang="it-IT" sz="1600" dirty="0" err="1">
                <a:latin typeface="+mj-lt"/>
              </a:rPr>
              <a:t>using</a:t>
            </a:r>
            <a:r>
              <a:rPr lang="it-IT" sz="1600" dirty="0">
                <a:latin typeface="+mj-lt"/>
              </a:rPr>
              <a:t> the area code </a:t>
            </a:r>
            <a:r>
              <a:rPr lang="it-IT" sz="1600" dirty="0" err="1">
                <a:latin typeface="+mj-lt"/>
              </a:rPr>
              <a:t>as</a:t>
            </a:r>
            <a:r>
              <a:rPr lang="it-IT" sz="1600" dirty="0">
                <a:latin typeface="+mj-lt"/>
              </a:rPr>
              <a:t> points + </a:t>
            </a:r>
            <a:r>
              <a:rPr lang="it-IT" sz="1600" dirty="0" err="1">
                <a:latin typeface="+mj-lt"/>
              </a:rPr>
              <a:t>hue</a:t>
            </a:r>
            <a:r>
              <a:rPr lang="it-IT" sz="1600" dirty="0">
                <a:latin typeface="+mj-lt"/>
              </a:rPr>
              <a:t> to </a:t>
            </a:r>
            <a:r>
              <a:rPr lang="it-IT" sz="1600" dirty="0" err="1">
                <a:latin typeface="+mj-lt"/>
              </a:rPr>
              <a:t>identify</a:t>
            </a:r>
            <a:r>
              <a:rPr lang="it-IT" sz="1600" dirty="0">
                <a:latin typeface="+mj-lt"/>
              </a:rPr>
              <a:t> </a:t>
            </a:r>
            <a:r>
              <a:rPr lang="it-IT" sz="1600" dirty="0" err="1">
                <a:latin typeface="+mj-lt"/>
              </a:rPr>
              <a:t>if</a:t>
            </a:r>
            <a:r>
              <a:rPr lang="it-IT" sz="1600" dirty="0">
                <a:latin typeface="+mj-lt"/>
              </a:rPr>
              <a:t> </a:t>
            </a:r>
            <a:r>
              <a:rPr lang="it-IT" sz="1600" dirty="0" err="1">
                <a:latin typeface="+mj-lt"/>
              </a:rPr>
              <a:t>it</a:t>
            </a:r>
            <a:r>
              <a:rPr lang="it-IT" sz="1600" dirty="0">
                <a:latin typeface="+mj-lt"/>
              </a:rPr>
              <a:t> </a:t>
            </a:r>
            <a:r>
              <a:rPr lang="it-IT" sz="1600" dirty="0" err="1">
                <a:latin typeface="+mj-lt"/>
              </a:rPr>
              <a:t>is</a:t>
            </a:r>
            <a:r>
              <a:rPr lang="it-IT" sz="1600" dirty="0">
                <a:latin typeface="+mj-lt"/>
              </a:rPr>
              <a:t> a </a:t>
            </a:r>
            <a:r>
              <a:rPr lang="it-IT" sz="1600" dirty="0" err="1">
                <a:latin typeface="+mj-lt"/>
              </a:rPr>
              <a:t>north</a:t>
            </a:r>
            <a:r>
              <a:rPr lang="it-IT" sz="1600" dirty="0">
                <a:latin typeface="+mj-lt"/>
              </a:rPr>
              <a:t>/south </a:t>
            </a:r>
            <a:r>
              <a:rPr lang="it-IT" sz="1600" dirty="0" err="1">
                <a:latin typeface="+mj-lt"/>
              </a:rPr>
              <a:t>municipality</a:t>
            </a:r>
            <a:endParaRPr lang="it-IT" sz="1600" dirty="0">
              <a:latin typeface="+mj-lt"/>
            </a:endParaRPr>
          </a:p>
          <a:p>
            <a:pPr marL="285750" indent="-285750">
              <a:buFont typeface="Arial" panose="020B0604020202020204" pitchFamily="34" charset="0"/>
              <a:buChar char="•"/>
            </a:pPr>
            <a:r>
              <a:rPr lang="it-IT" sz="1600" dirty="0">
                <a:latin typeface="+mj-lt"/>
              </a:rPr>
              <a:t>Clustering</a:t>
            </a:r>
            <a:r>
              <a:rPr lang="en-US" sz="1600" dirty="0">
                <a:latin typeface="+mj-lt"/>
              </a:rPr>
              <a:t>. K-means on rate and density, plus severity.</a:t>
            </a:r>
            <a:endParaRPr lang="it-IT" sz="1600" dirty="0">
              <a:latin typeface="+mj-lt"/>
            </a:endParaRPr>
          </a:p>
        </p:txBody>
      </p:sp>
      <p:sp>
        <p:nvSpPr>
          <p:cNvPr id="35" name="Rettangolo con angoli arrotondati 34">
            <a:extLst>
              <a:ext uri="{FF2B5EF4-FFF2-40B4-BE49-F238E27FC236}">
                <a16:creationId xmlns:a16="http://schemas.microsoft.com/office/drawing/2014/main" id="{05770B39-0700-B3A9-D18D-65E963DAE277}"/>
              </a:ext>
            </a:extLst>
          </p:cNvPr>
          <p:cNvSpPr/>
          <p:nvPr/>
        </p:nvSpPr>
        <p:spPr>
          <a:xfrm>
            <a:off x="6719080" y="4585598"/>
            <a:ext cx="4852184" cy="1783301"/>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a:solidFill>
                  <a:schemeClr val="tx1"/>
                </a:solidFill>
              </a:rPr>
              <a:t>Limits of the </a:t>
            </a:r>
            <a:r>
              <a:rPr lang="it-IT" sz="1400" b="1" dirty="0" err="1">
                <a:solidFill>
                  <a:schemeClr val="tx1"/>
                </a:solidFill>
              </a:rPr>
              <a:t>approach</a:t>
            </a:r>
            <a:r>
              <a:rPr lang="it-IT" sz="1400" b="1" dirty="0">
                <a:solidFill>
                  <a:schemeClr val="tx1"/>
                </a:solidFill>
              </a:rPr>
              <a:t>:</a:t>
            </a:r>
          </a:p>
          <a:p>
            <a:pPr marL="285750" indent="-285750">
              <a:buFont typeface="Arial" panose="020B0604020202020204" pitchFamily="34" charset="0"/>
              <a:buChar char="•"/>
            </a:pPr>
            <a:r>
              <a:rPr lang="en-US" sz="1400" dirty="0">
                <a:solidFill>
                  <a:schemeClr val="tx1"/>
                </a:solidFill>
              </a:rPr>
              <a:t>Clusters ended up being more like “tiers”, not natural groups.</a:t>
            </a:r>
          </a:p>
          <a:p>
            <a:pPr marL="285750" indent="-285750">
              <a:buFont typeface="Arial" panose="020B0604020202020204" pitchFamily="34" charset="0"/>
              <a:buChar char="•"/>
            </a:pPr>
            <a:r>
              <a:rPr lang="en-US" sz="1400" dirty="0">
                <a:solidFill>
                  <a:schemeClr val="tx1"/>
                </a:solidFill>
              </a:rPr>
              <a:t>Severity is “noisy” in small towns.</a:t>
            </a:r>
          </a:p>
          <a:p>
            <a:pPr marL="285750" indent="-285750">
              <a:buFont typeface="Arial" panose="020B0604020202020204" pitchFamily="34" charset="0"/>
              <a:buChar char="•"/>
            </a:pPr>
            <a:r>
              <a:rPr lang="en-US" sz="1400" dirty="0">
                <a:solidFill>
                  <a:schemeClr val="tx1"/>
                </a:solidFill>
              </a:rPr>
              <a:t>Tourist areas can inflate rates per resident.</a:t>
            </a:r>
            <a:endParaRPr lang="it-IT" sz="1400" dirty="0">
              <a:solidFill>
                <a:schemeClr val="tx1"/>
              </a:solidFill>
            </a:endParaRPr>
          </a:p>
        </p:txBody>
      </p:sp>
    </p:spTree>
    <p:extLst>
      <p:ext uri="{BB962C8B-B14F-4D97-AF65-F5344CB8AC3E}">
        <p14:creationId xmlns:p14="http://schemas.microsoft.com/office/powerpoint/2010/main" val="114863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792AF-1AF2-92BB-87D3-E32581B76B99}"/>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46EC250B-80FA-92D6-AABF-16005B10B8CF}"/>
              </a:ext>
            </a:extLst>
          </p:cNvPr>
          <p:cNvSpPr txBox="1"/>
          <p:nvPr/>
        </p:nvSpPr>
        <p:spPr>
          <a:xfrm>
            <a:off x="835854" y="462214"/>
            <a:ext cx="8309318" cy="307777"/>
          </a:xfrm>
          <a:prstGeom prst="rect">
            <a:avLst/>
          </a:prstGeom>
          <a:noFill/>
        </p:spPr>
        <p:txBody>
          <a:bodyPr wrap="square">
            <a:spAutoFit/>
          </a:bodyPr>
          <a:lstStyle/>
          <a:p>
            <a:r>
              <a:rPr lang="it-IT" sz="1400" b="1" dirty="0" err="1">
                <a:solidFill>
                  <a:schemeClr val="accent2">
                    <a:lumMod val="50000"/>
                  </a:schemeClr>
                </a:solidFill>
                <a:effectLst/>
                <a:latin typeface="+mn-lt"/>
              </a:rPr>
              <a:t>Where</a:t>
            </a:r>
            <a:r>
              <a:rPr lang="it-IT" sz="1400" b="1" dirty="0">
                <a:solidFill>
                  <a:schemeClr val="accent2">
                    <a:lumMod val="50000"/>
                  </a:schemeClr>
                </a:solidFill>
                <a:effectLst/>
                <a:latin typeface="+mn-lt"/>
              </a:rPr>
              <a:t> </a:t>
            </a:r>
            <a:r>
              <a:rPr lang="it-IT" sz="1400" b="1" dirty="0" err="1">
                <a:solidFill>
                  <a:schemeClr val="accent2">
                    <a:lumMod val="50000"/>
                  </a:schemeClr>
                </a:solidFill>
                <a:effectLst/>
                <a:latin typeface="+mn-lt"/>
              </a:rPr>
              <a:t>should</a:t>
            </a:r>
            <a:r>
              <a:rPr lang="it-IT" sz="1400" b="1" dirty="0">
                <a:solidFill>
                  <a:schemeClr val="accent2">
                    <a:lumMod val="50000"/>
                  </a:schemeClr>
                </a:solidFill>
                <a:effectLst/>
                <a:latin typeface="+mn-lt"/>
              </a:rPr>
              <a:t> road-</a:t>
            </a:r>
            <a:r>
              <a:rPr lang="it-IT" sz="1400" b="1" dirty="0" err="1">
                <a:solidFill>
                  <a:schemeClr val="accent2">
                    <a:lumMod val="50000"/>
                  </a:schemeClr>
                </a:solidFill>
                <a:effectLst/>
                <a:latin typeface="+mn-lt"/>
              </a:rPr>
              <a:t>safety</a:t>
            </a:r>
            <a:r>
              <a:rPr lang="it-IT" sz="1400" b="1" dirty="0">
                <a:solidFill>
                  <a:schemeClr val="accent2">
                    <a:lumMod val="50000"/>
                  </a:schemeClr>
                </a:solidFill>
                <a:effectLst/>
                <a:latin typeface="+mn-lt"/>
              </a:rPr>
              <a:t> investment go in Italy?</a:t>
            </a:r>
            <a:endParaRPr lang="it-IT" sz="1400" b="1" dirty="0">
              <a:solidFill>
                <a:schemeClr val="accent2">
                  <a:lumMod val="50000"/>
                </a:schemeClr>
              </a:solidFill>
            </a:endParaRPr>
          </a:p>
        </p:txBody>
      </p:sp>
      <p:sp>
        <p:nvSpPr>
          <p:cNvPr id="4" name="CasellaDiTesto 3">
            <a:extLst>
              <a:ext uri="{FF2B5EF4-FFF2-40B4-BE49-F238E27FC236}">
                <a16:creationId xmlns:a16="http://schemas.microsoft.com/office/drawing/2014/main" id="{835B0E51-5849-0472-AE03-F6ABFDDD83B2}"/>
              </a:ext>
            </a:extLst>
          </p:cNvPr>
          <p:cNvSpPr txBox="1"/>
          <p:nvPr/>
        </p:nvSpPr>
        <p:spPr>
          <a:xfrm>
            <a:off x="7085430" y="462214"/>
            <a:ext cx="4270716" cy="307777"/>
          </a:xfrm>
          <a:prstGeom prst="rect">
            <a:avLst/>
          </a:prstGeom>
          <a:noFill/>
        </p:spPr>
        <p:txBody>
          <a:bodyPr wrap="square">
            <a:spAutoFit/>
          </a:bodyPr>
          <a:lstStyle/>
          <a:p>
            <a:pPr algn="r"/>
            <a:r>
              <a:rPr lang="it-IT" sz="1400" i="0" spc="225" dirty="0">
                <a:solidFill>
                  <a:schemeClr val="tx1">
                    <a:lumMod val="65000"/>
                    <a:lumOff val="35000"/>
                  </a:schemeClr>
                </a:solidFill>
                <a:effectLst/>
                <a:latin typeface="+mn-lt"/>
              </a:rPr>
              <a:t>DATA EXPORT &amp; POWER BI</a:t>
            </a:r>
            <a:endParaRPr lang="it-IT" sz="1400" dirty="0">
              <a:solidFill>
                <a:schemeClr val="tx1">
                  <a:lumMod val="65000"/>
                  <a:lumOff val="35000"/>
                </a:schemeClr>
              </a:solidFill>
            </a:endParaRPr>
          </a:p>
        </p:txBody>
      </p:sp>
      <p:sp>
        <p:nvSpPr>
          <p:cNvPr id="6" name="CasellaDiTesto 5">
            <a:extLst>
              <a:ext uri="{FF2B5EF4-FFF2-40B4-BE49-F238E27FC236}">
                <a16:creationId xmlns:a16="http://schemas.microsoft.com/office/drawing/2014/main" id="{EDC1C1D6-B358-1DE6-C484-EB5392B837DF}"/>
              </a:ext>
            </a:extLst>
          </p:cNvPr>
          <p:cNvSpPr txBox="1"/>
          <p:nvPr/>
        </p:nvSpPr>
        <p:spPr>
          <a:xfrm>
            <a:off x="873367" y="1748085"/>
            <a:ext cx="6413698" cy="1077218"/>
          </a:xfrm>
          <a:prstGeom prst="rect">
            <a:avLst/>
          </a:prstGeom>
          <a:noFill/>
        </p:spPr>
        <p:txBody>
          <a:bodyPr wrap="square">
            <a:spAutoFit/>
          </a:bodyPr>
          <a:lstStyle/>
          <a:p>
            <a:r>
              <a:rPr lang="en-US" sz="1600" dirty="0"/>
              <a:t>Business methodologies and scopes are vague by design, so that in this analysis one can focus on providing insights actionable by others.</a:t>
            </a:r>
          </a:p>
          <a:p>
            <a:r>
              <a:rPr lang="en-US" sz="1600" dirty="0"/>
              <a:t>The idea is to show the areas more impacted by lethal/non-lethal accidents, and the trend direction</a:t>
            </a:r>
          </a:p>
        </p:txBody>
      </p:sp>
      <p:sp>
        <p:nvSpPr>
          <p:cNvPr id="10" name="Rettangolo con angoli arrotondati 9">
            <a:extLst>
              <a:ext uri="{FF2B5EF4-FFF2-40B4-BE49-F238E27FC236}">
                <a16:creationId xmlns:a16="http://schemas.microsoft.com/office/drawing/2014/main" id="{A1FBA078-B10C-75C5-D995-39BB93870B97}"/>
              </a:ext>
            </a:extLst>
          </p:cNvPr>
          <p:cNvSpPr/>
          <p:nvPr/>
        </p:nvSpPr>
        <p:spPr>
          <a:xfrm>
            <a:off x="7484011" y="1475446"/>
            <a:ext cx="3834621" cy="1540455"/>
          </a:xfrm>
          <a:prstGeom prst="roundRect">
            <a:avLst>
              <a:gd name="adj" fmla="val 19394"/>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The main tool  of the dashboard is dynamic selection of the level of data (region&gt;province&gt;commune) that should be useful to evaluate business decision on the topic</a:t>
            </a:r>
          </a:p>
        </p:txBody>
      </p:sp>
      <p:sp>
        <p:nvSpPr>
          <p:cNvPr id="14" name="CasellaDiTesto 13">
            <a:extLst>
              <a:ext uri="{FF2B5EF4-FFF2-40B4-BE49-F238E27FC236}">
                <a16:creationId xmlns:a16="http://schemas.microsoft.com/office/drawing/2014/main" id="{7DB87226-18F0-12F3-2050-B5BF00DB3BE8}"/>
              </a:ext>
            </a:extLst>
          </p:cNvPr>
          <p:cNvSpPr txBox="1"/>
          <p:nvPr/>
        </p:nvSpPr>
        <p:spPr>
          <a:xfrm>
            <a:off x="873368" y="1422723"/>
            <a:ext cx="5072576" cy="369332"/>
          </a:xfrm>
          <a:prstGeom prst="rect">
            <a:avLst/>
          </a:prstGeom>
          <a:noFill/>
        </p:spPr>
        <p:txBody>
          <a:bodyPr wrap="square">
            <a:spAutoFit/>
          </a:bodyPr>
          <a:lstStyle/>
          <a:p>
            <a:r>
              <a:rPr lang="it-IT" b="1" spc="225" dirty="0" err="1">
                <a:solidFill>
                  <a:schemeClr val="accent2">
                    <a:lumMod val="50000"/>
                  </a:schemeClr>
                </a:solidFill>
              </a:rPr>
              <a:t>Reasoning</a:t>
            </a:r>
            <a:endParaRPr lang="it-IT" dirty="0">
              <a:solidFill>
                <a:schemeClr val="accent2">
                  <a:lumMod val="50000"/>
                </a:schemeClr>
              </a:solidFill>
            </a:endParaRPr>
          </a:p>
        </p:txBody>
      </p:sp>
      <p:grpSp>
        <p:nvGrpSpPr>
          <p:cNvPr id="27" name="Gruppo 26">
            <a:extLst>
              <a:ext uri="{FF2B5EF4-FFF2-40B4-BE49-F238E27FC236}">
                <a16:creationId xmlns:a16="http://schemas.microsoft.com/office/drawing/2014/main" id="{04CCDB7C-5341-E76E-B557-DC57CD132127}"/>
              </a:ext>
            </a:extLst>
          </p:cNvPr>
          <p:cNvGrpSpPr/>
          <p:nvPr/>
        </p:nvGrpSpPr>
        <p:grpSpPr>
          <a:xfrm>
            <a:off x="835854" y="3429000"/>
            <a:ext cx="3473549" cy="2516390"/>
            <a:chOff x="667041" y="3879396"/>
            <a:chExt cx="3473549" cy="2516390"/>
          </a:xfrm>
        </p:grpSpPr>
        <p:sp>
          <p:nvSpPr>
            <p:cNvPr id="3" name="CasellaDiTesto 2">
              <a:extLst>
                <a:ext uri="{FF2B5EF4-FFF2-40B4-BE49-F238E27FC236}">
                  <a16:creationId xmlns:a16="http://schemas.microsoft.com/office/drawing/2014/main" id="{5B524556-0111-758D-5285-DC73982FB506}"/>
                </a:ext>
              </a:extLst>
            </p:cNvPr>
            <p:cNvSpPr txBox="1"/>
            <p:nvPr/>
          </p:nvSpPr>
          <p:spPr>
            <a:xfrm>
              <a:off x="835854" y="4084756"/>
              <a:ext cx="2929598" cy="369332"/>
            </a:xfrm>
            <a:prstGeom prst="rect">
              <a:avLst/>
            </a:prstGeom>
            <a:noFill/>
          </p:spPr>
          <p:txBody>
            <a:bodyPr wrap="square">
              <a:spAutoFit/>
            </a:bodyPr>
            <a:lstStyle/>
            <a:p>
              <a:r>
                <a:rPr lang="it-IT" b="1" spc="225" dirty="0">
                  <a:solidFill>
                    <a:schemeClr val="accent2">
                      <a:lumMod val="50000"/>
                    </a:schemeClr>
                  </a:solidFill>
                </a:rPr>
                <a:t>1. </a:t>
              </a:r>
              <a:r>
                <a:rPr lang="it-IT" b="1" spc="225" dirty="0" err="1">
                  <a:solidFill>
                    <a:schemeClr val="accent2">
                      <a:lumMod val="50000"/>
                    </a:schemeClr>
                  </a:solidFill>
                </a:rPr>
                <a:t>Demographic</a:t>
              </a:r>
              <a:r>
                <a:rPr lang="it-IT" b="1" spc="225" dirty="0">
                  <a:solidFill>
                    <a:schemeClr val="accent2">
                      <a:lumMod val="50000"/>
                    </a:schemeClr>
                  </a:solidFill>
                </a:rPr>
                <a:t> Data</a:t>
              </a:r>
              <a:endParaRPr lang="it-IT" dirty="0">
                <a:solidFill>
                  <a:schemeClr val="accent2">
                    <a:lumMod val="50000"/>
                  </a:schemeClr>
                </a:solidFill>
              </a:endParaRPr>
            </a:p>
          </p:txBody>
        </p:sp>
        <p:sp>
          <p:nvSpPr>
            <p:cNvPr id="19" name="CasellaDiTesto 18">
              <a:extLst>
                <a:ext uri="{FF2B5EF4-FFF2-40B4-BE49-F238E27FC236}">
                  <a16:creationId xmlns:a16="http://schemas.microsoft.com/office/drawing/2014/main" id="{3234BF79-35AC-BF62-80F1-B3CD67DDF28D}"/>
                </a:ext>
              </a:extLst>
            </p:cNvPr>
            <p:cNvSpPr txBox="1"/>
            <p:nvPr/>
          </p:nvSpPr>
          <p:spPr>
            <a:xfrm>
              <a:off x="835854" y="4509511"/>
              <a:ext cx="3304736" cy="1077218"/>
            </a:xfrm>
            <a:prstGeom prst="rect">
              <a:avLst/>
            </a:prstGeom>
            <a:noFill/>
          </p:spPr>
          <p:txBody>
            <a:bodyPr wrap="square">
              <a:spAutoFit/>
            </a:bodyPr>
            <a:lstStyle/>
            <a:p>
              <a:r>
                <a:rPr lang="en-US" sz="1600" dirty="0"/>
                <a:t>Demographic data comparison to help to focus decision-making on the most useful areas by increasing/decreasing population.</a:t>
              </a:r>
            </a:p>
          </p:txBody>
        </p:sp>
        <p:sp>
          <p:nvSpPr>
            <p:cNvPr id="26" name="Rettangolo con angoli arrotondati 25">
              <a:extLst>
                <a:ext uri="{FF2B5EF4-FFF2-40B4-BE49-F238E27FC236}">
                  <a16:creationId xmlns:a16="http://schemas.microsoft.com/office/drawing/2014/main" id="{08832E50-AC07-7C9D-8F8F-30652D3EB394}"/>
                </a:ext>
              </a:extLst>
            </p:cNvPr>
            <p:cNvSpPr/>
            <p:nvPr/>
          </p:nvSpPr>
          <p:spPr>
            <a:xfrm>
              <a:off x="667041" y="3879396"/>
              <a:ext cx="3473549" cy="2516390"/>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it-IT" sz="1400" dirty="0">
                <a:solidFill>
                  <a:schemeClr val="tx1"/>
                </a:solidFill>
              </a:endParaRPr>
            </a:p>
            <a:p>
              <a:endParaRPr lang="it-IT" sz="1400" dirty="0">
                <a:solidFill>
                  <a:schemeClr val="tx1"/>
                </a:solidFill>
              </a:endParaRPr>
            </a:p>
          </p:txBody>
        </p:sp>
      </p:grpSp>
      <p:grpSp>
        <p:nvGrpSpPr>
          <p:cNvPr id="28" name="Gruppo 27">
            <a:extLst>
              <a:ext uri="{FF2B5EF4-FFF2-40B4-BE49-F238E27FC236}">
                <a16:creationId xmlns:a16="http://schemas.microsoft.com/office/drawing/2014/main" id="{68698E03-8813-1EE3-DEFF-A138CC105F93}"/>
              </a:ext>
            </a:extLst>
          </p:cNvPr>
          <p:cNvGrpSpPr/>
          <p:nvPr/>
        </p:nvGrpSpPr>
        <p:grpSpPr>
          <a:xfrm>
            <a:off x="4528038" y="3429000"/>
            <a:ext cx="3473549" cy="2516390"/>
            <a:chOff x="667041" y="3879396"/>
            <a:chExt cx="3473549" cy="2516390"/>
          </a:xfrm>
        </p:grpSpPr>
        <p:sp>
          <p:nvSpPr>
            <p:cNvPr id="29" name="CasellaDiTesto 28">
              <a:extLst>
                <a:ext uri="{FF2B5EF4-FFF2-40B4-BE49-F238E27FC236}">
                  <a16:creationId xmlns:a16="http://schemas.microsoft.com/office/drawing/2014/main" id="{FBA38978-B1C2-5C03-477C-F8A0872537FA}"/>
                </a:ext>
              </a:extLst>
            </p:cNvPr>
            <p:cNvSpPr txBox="1"/>
            <p:nvPr/>
          </p:nvSpPr>
          <p:spPr>
            <a:xfrm>
              <a:off x="835854" y="4084756"/>
              <a:ext cx="2929598" cy="369332"/>
            </a:xfrm>
            <a:prstGeom prst="rect">
              <a:avLst/>
            </a:prstGeom>
            <a:noFill/>
          </p:spPr>
          <p:txBody>
            <a:bodyPr wrap="square">
              <a:spAutoFit/>
            </a:bodyPr>
            <a:lstStyle/>
            <a:p>
              <a:r>
                <a:rPr lang="it-IT" b="1" spc="225" dirty="0">
                  <a:solidFill>
                    <a:schemeClr val="accent2">
                      <a:lumMod val="50000"/>
                    </a:schemeClr>
                  </a:solidFill>
                </a:rPr>
                <a:t>2. Accidents Data</a:t>
              </a:r>
              <a:endParaRPr lang="it-IT" dirty="0">
                <a:solidFill>
                  <a:schemeClr val="accent2">
                    <a:lumMod val="50000"/>
                  </a:schemeClr>
                </a:solidFill>
              </a:endParaRPr>
            </a:p>
          </p:txBody>
        </p:sp>
        <p:sp>
          <p:nvSpPr>
            <p:cNvPr id="30" name="CasellaDiTesto 29">
              <a:extLst>
                <a:ext uri="{FF2B5EF4-FFF2-40B4-BE49-F238E27FC236}">
                  <a16:creationId xmlns:a16="http://schemas.microsoft.com/office/drawing/2014/main" id="{063E39E2-A358-495A-2241-BB601EF2DA94}"/>
                </a:ext>
              </a:extLst>
            </p:cNvPr>
            <p:cNvSpPr txBox="1"/>
            <p:nvPr/>
          </p:nvSpPr>
          <p:spPr>
            <a:xfrm>
              <a:off x="835854" y="4509511"/>
              <a:ext cx="3304736" cy="1323439"/>
            </a:xfrm>
            <a:prstGeom prst="rect">
              <a:avLst/>
            </a:prstGeom>
            <a:noFill/>
          </p:spPr>
          <p:txBody>
            <a:bodyPr wrap="square">
              <a:spAutoFit/>
            </a:bodyPr>
            <a:lstStyle/>
            <a:p>
              <a:r>
                <a:rPr lang="en-US" sz="1600" dirty="0"/>
                <a:t>Accidents data, including a rate of severity (= number of deaths every 100 accidents), to better understand the possible impact of business decisions</a:t>
              </a:r>
            </a:p>
          </p:txBody>
        </p:sp>
        <p:sp>
          <p:nvSpPr>
            <p:cNvPr id="31" name="Rettangolo con angoli arrotondati 30">
              <a:extLst>
                <a:ext uri="{FF2B5EF4-FFF2-40B4-BE49-F238E27FC236}">
                  <a16:creationId xmlns:a16="http://schemas.microsoft.com/office/drawing/2014/main" id="{B25104A5-4F9D-7821-1230-E0BCBA1DDB8E}"/>
                </a:ext>
              </a:extLst>
            </p:cNvPr>
            <p:cNvSpPr/>
            <p:nvPr/>
          </p:nvSpPr>
          <p:spPr>
            <a:xfrm>
              <a:off x="667041" y="3879396"/>
              <a:ext cx="3473549" cy="2516390"/>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it-IT" sz="1400" dirty="0">
                <a:solidFill>
                  <a:schemeClr val="tx1"/>
                </a:solidFill>
              </a:endParaRPr>
            </a:p>
            <a:p>
              <a:endParaRPr lang="it-IT" sz="1400" dirty="0">
                <a:solidFill>
                  <a:schemeClr val="tx1"/>
                </a:solidFill>
              </a:endParaRPr>
            </a:p>
          </p:txBody>
        </p:sp>
      </p:grpSp>
      <p:grpSp>
        <p:nvGrpSpPr>
          <p:cNvPr id="32" name="Gruppo 31">
            <a:extLst>
              <a:ext uri="{FF2B5EF4-FFF2-40B4-BE49-F238E27FC236}">
                <a16:creationId xmlns:a16="http://schemas.microsoft.com/office/drawing/2014/main" id="{0DF5B81C-20A5-2331-6324-C846BF91F185}"/>
              </a:ext>
            </a:extLst>
          </p:cNvPr>
          <p:cNvGrpSpPr/>
          <p:nvPr/>
        </p:nvGrpSpPr>
        <p:grpSpPr>
          <a:xfrm>
            <a:off x="8220222" y="3429000"/>
            <a:ext cx="3473549" cy="2516390"/>
            <a:chOff x="667041" y="3879396"/>
            <a:chExt cx="3473549" cy="2516390"/>
          </a:xfrm>
        </p:grpSpPr>
        <p:sp>
          <p:nvSpPr>
            <p:cNvPr id="33" name="CasellaDiTesto 32">
              <a:extLst>
                <a:ext uri="{FF2B5EF4-FFF2-40B4-BE49-F238E27FC236}">
                  <a16:creationId xmlns:a16="http://schemas.microsoft.com/office/drawing/2014/main" id="{C4EC93C8-B486-E0AF-CE14-3EC3BB915708}"/>
                </a:ext>
              </a:extLst>
            </p:cNvPr>
            <p:cNvSpPr txBox="1"/>
            <p:nvPr/>
          </p:nvSpPr>
          <p:spPr>
            <a:xfrm>
              <a:off x="835854" y="4084756"/>
              <a:ext cx="2929598" cy="369332"/>
            </a:xfrm>
            <a:prstGeom prst="rect">
              <a:avLst/>
            </a:prstGeom>
            <a:noFill/>
          </p:spPr>
          <p:txBody>
            <a:bodyPr wrap="square">
              <a:spAutoFit/>
            </a:bodyPr>
            <a:lstStyle/>
            <a:p>
              <a:r>
                <a:rPr lang="it-IT" b="1" spc="225" dirty="0">
                  <a:solidFill>
                    <a:schemeClr val="accent2">
                      <a:lumMod val="50000"/>
                    </a:schemeClr>
                  </a:solidFill>
                </a:rPr>
                <a:t>3. Trends &amp; Insights</a:t>
              </a:r>
              <a:endParaRPr lang="it-IT" dirty="0">
                <a:solidFill>
                  <a:schemeClr val="accent2">
                    <a:lumMod val="50000"/>
                  </a:schemeClr>
                </a:solidFill>
              </a:endParaRPr>
            </a:p>
          </p:txBody>
        </p:sp>
        <p:sp>
          <p:nvSpPr>
            <p:cNvPr id="34" name="CasellaDiTesto 33">
              <a:extLst>
                <a:ext uri="{FF2B5EF4-FFF2-40B4-BE49-F238E27FC236}">
                  <a16:creationId xmlns:a16="http://schemas.microsoft.com/office/drawing/2014/main" id="{B17AB4AF-AC68-E6AA-BA4F-55341CB8A2A7}"/>
                </a:ext>
              </a:extLst>
            </p:cNvPr>
            <p:cNvSpPr txBox="1"/>
            <p:nvPr/>
          </p:nvSpPr>
          <p:spPr>
            <a:xfrm>
              <a:off x="835854" y="4509511"/>
              <a:ext cx="3304736" cy="830997"/>
            </a:xfrm>
            <a:prstGeom prst="rect">
              <a:avLst/>
            </a:prstGeom>
            <a:noFill/>
          </p:spPr>
          <p:txBody>
            <a:bodyPr wrap="square">
              <a:spAutoFit/>
            </a:bodyPr>
            <a:lstStyle/>
            <a:p>
              <a:r>
                <a:rPr lang="en-US" sz="1600" dirty="0"/>
                <a:t>A final consideration on moving trends, region by region, and a useful comparison table.</a:t>
              </a:r>
            </a:p>
          </p:txBody>
        </p:sp>
        <p:sp>
          <p:nvSpPr>
            <p:cNvPr id="35" name="Rettangolo con angoli arrotondati 34">
              <a:extLst>
                <a:ext uri="{FF2B5EF4-FFF2-40B4-BE49-F238E27FC236}">
                  <a16:creationId xmlns:a16="http://schemas.microsoft.com/office/drawing/2014/main" id="{84A51933-DD7C-4E42-AEAA-E1C651E125BF}"/>
                </a:ext>
              </a:extLst>
            </p:cNvPr>
            <p:cNvSpPr/>
            <p:nvPr/>
          </p:nvSpPr>
          <p:spPr>
            <a:xfrm>
              <a:off x="667041" y="3879396"/>
              <a:ext cx="3473549" cy="2516390"/>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it-IT" sz="1400" dirty="0">
                <a:solidFill>
                  <a:schemeClr val="tx1"/>
                </a:solidFill>
              </a:endParaRPr>
            </a:p>
            <a:p>
              <a:endParaRPr lang="it-IT" sz="1400" dirty="0">
                <a:solidFill>
                  <a:schemeClr val="tx1"/>
                </a:solidFill>
              </a:endParaRPr>
            </a:p>
          </p:txBody>
        </p:sp>
      </p:grpSp>
    </p:spTree>
    <p:extLst>
      <p:ext uri="{BB962C8B-B14F-4D97-AF65-F5344CB8AC3E}">
        <p14:creationId xmlns:p14="http://schemas.microsoft.com/office/powerpoint/2010/main" val="3410918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01FDB-ECA2-22E5-C711-080AE02A6D8B}"/>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F20E851B-BD0F-2724-0E84-690EC5C7BD67}"/>
              </a:ext>
            </a:extLst>
          </p:cNvPr>
          <p:cNvSpPr txBox="1"/>
          <p:nvPr/>
        </p:nvSpPr>
        <p:spPr>
          <a:xfrm>
            <a:off x="835854" y="462214"/>
            <a:ext cx="8309318" cy="307777"/>
          </a:xfrm>
          <a:prstGeom prst="rect">
            <a:avLst/>
          </a:prstGeom>
          <a:noFill/>
        </p:spPr>
        <p:txBody>
          <a:bodyPr wrap="square">
            <a:spAutoFit/>
          </a:bodyPr>
          <a:lstStyle/>
          <a:p>
            <a:r>
              <a:rPr lang="it-IT" sz="1400" b="1" dirty="0" err="1">
                <a:solidFill>
                  <a:schemeClr val="accent2">
                    <a:lumMod val="50000"/>
                  </a:schemeClr>
                </a:solidFill>
                <a:effectLst/>
                <a:latin typeface="+mn-lt"/>
              </a:rPr>
              <a:t>Where</a:t>
            </a:r>
            <a:r>
              <a:rPr lang="it-IT" sz="1400" b="1" dirty="0">
                <a:solidFill>
                  <a:schemeClr val="accent2">
                    <a:lumMod val="50000"/>
                  </a:schemeClr>
                </a:solidFill>
                <a:effectLst/>
                <a:latin typeface="+mn-lt"/>
              </a:rPr>
              <a:t> </a:t>
            </a:r>
            <a:r>
              <a:rPr lang="it-IT" sz="1400" b="1" dirty="0" err="1">
                <a:solidFill>
                  <a:schemeClr val="accent2">
                    <a:lumMod val="50000"/>
                  </a:schemeClr>
                </a:solidFill>
                <a:effectLst/>
                <a:latin typeface="+mn-lt"/>
              </a:rPr>
              <a:t>should</a:t>
            </a:r>
            <a:r>
              <a:rPr lang="it-IT" sz="1400" b="1" dirty="0">
                <a:solidFill>
                  <a:schemeClr val="accent2">
                    <a:lumMod val="50000"/>
                  </a:schemeClr>
                </a:solidFill>
                <a:effectLst/>
                <a:latin typeface="+mn-lt"/>
              </a:rPr>
              <a:t> road-</a:t>
            </a:r>
            <a:r>
              <a:rPr lang="it-IT" sz="1400" b="1" dirty="0" err="1">
                <a:solidFill>
                  <a:schemeClr val="accent2">
                    <a:lumMod val="50000"/>
                  </a:schemeClr>
                </a:solidFill>
                <a:effectLst/>
                <a:latin typeface="+mn-lt"/>
              </a:rPr>
              <a:t>safety</a:t>
            </a:r>
            <a:r>
              <a:rPr lang="it-IT" sz="1400" b="1" dirty="0">
                <a:solidFill>
                  <a:schemeClr val="accent2">
                    <a:lumMod val="50000"/>
                  </a:schemeClr>
                </a:solidFill>
                <a:effectLst/>
                <a:latin typeface="+mn-lt"/>
              </a:rPr>
              <a:t> investment go in Italy?</a:t>
            </a:r>
            <a:endParaRPr lang="it-IT" sz="1400" b="1" dirty="0">
              <a:solidFill>
                <a:schemeClr val="accent2">
                  <a:lumMod val="50000"/>
                </a:schemeClr>
              </a:solidFill>
            </a:endParaRPr>
          </a:p>
        </p:txBody>
      </p:sp>
      <p:sp>
        <p:nvSpPr>
          <p:cNvPr id="4" name="CasellaDiTesto 3">
            <a:extLst>
              <a:ext uri="{FF2B5EF4-FFF2-40B4-BE49-F238E27FC236}">
                <a16:creationId xmlns:a16="http://schemas.microsoft.com/office/drawing/2014/main" id="{C21031E2-A9AD-EFE8-6D25-3085B0DAC5AE}"/>
              </a:ext>
            </a:extLst>
          </p:cNvPr>
          <p:cNvSpPr txBox="1"/>
          <p:nvPr/>
        </p:nvSpPr>
        <p:spPr>
          <a:xfrm>
            <a:off x="7085430" y="462214"/>
            <a:ext cx="4270716" cy="307777"/>
          </a:xfrm>
          <a:prstGeom prst="rect">
            <a:avLst/>
          </a:prstGeom>
          <a:noFill/>
        </p:spPr>
        <p:txBody>
          <a:bodyPr wrap="square">
            <a:spAutoFit/>
          </a:bodyPr>
          <a:lstStyle/>
          <a:p>
            <a:pPr algn="r"/>
            <a:r>
              <a:rPr lang="it-IT" sz="1400" i="0" spc="225" dirty="0">
                <a:solidFill>
                  <a:schemeClr val="tx1">
                    <a:lumMod val="65000"/>
                    <a:lumOff val="35000"/>
                  </a:schemeClr>
                </a:solidFill>
                <a:effectLst/>
                <a:latin typeface="+mn-lt"/>
              </a:rPr>
              <a:t>BUSINESS INSIGHTS &amp; TAKEAWAYS</a:t>
            </a:r>
            <a:endParaRPr lang="it-IT" sz="1400" dirty="0">
              <a:solidFill>
                <a:schemeClr val="tx1">
                  <a:lumMod val="65000"/>
                  <a:lumOff val="35000"/>
                </a:schemeClr>
              </a:solidFill>
            </a:endParaRPr>
          </a:p>
        </p:txBody>
      </p:sp>
      <p:sp>
        <p:nvSpPr>
          <p:cNvPr id="3" name="CasellaDiTesto 2">
            <a:extLst>
              <a:ext uri="{FF2B5EF4-FFF2-40B4-BE49-F238E27FC236}">
                <a16:creationId xmlns:a16="http://schemas.microsoft.com/office/drawing/2014/main" id="{950180FD-B927-E40B-F5C3-C1BD70BC48B5}"/>
              </a:ext>
            </a:extLst>
          </p:cNvPr>
          <p:cNvSpPr txBox="1"/>
          <p:nvPr/>
        </p:nvSpPr>
        <p:spPr>
          <a:xfrm>
            <a:off x="835854" y="1404618"/>
            <a:ext cx="5072576" cy="369332"/>
          </a:xfrm>
          <a:prstGeom prst="rect">
            <a:avLst/>
          </a:prstGeom>
          <a:noFill/>
        </p:spPr>
        <p:txBody>
          <a:bodyPr wrap="square">
            <a:spAutoFit/>
          </a:bodyPr>
          <a:lstStyle/>
          <a:p>
            <a:r>
              <a:rPr lang="it-IT" sz="1800" b="1" i="0" spc="225" dirty="0">
                <a:solidFill>
                  <a:schemeClr val="accent2">
                    <a:lumMod val="50000"/>
                  </a:schemeClr>
                </a:solidFill>
                <a:effectLst/>
                <a:latin typeface="+mn-lt"/>
              </a:rPr>
              <a:t>Business Insight</a:t>
            </a:r>
            <a:endParaRPr lang="it-IT" dirty="0">
              <a:solidFill>
                <a:schemeClr val="accent2">
                  <a:lumMod val="50000"/>
                </a:schemeClr>
              </a:solidFill>
            </a:endParaRPr>
          </a:p>
        </p:txBody>
      </p:sp>
      <p:sp>
        <p:nvSpPr>
          <p:cNvPr id="6" name="CasellaDiTesto 5">
            <a:extLst>
              <a:ext uri="{FF2B5EF4-FFF2-40B4-BE49-F238E27FC236}">
                <a16:creationId xmlns:a16="http://schemas.microsoft.com/office/drawing/2014/main" id="{94C28C43-A754-DA04-844F-83FF301AF765}"/>
              </a:ext>
            </a:extLst>
          </p:cNvPr>
          <p:cNvSpPr txBox="1"/>
          <p:nvPr/>
        </p:nvSpPr>
        <p:spPr>
          <a:xfrm>
            <a:off x="835855" y="1757582"/>
            <a:ext cx="5072576" cy="4524315"/>
          </a:xfrm>
          <a:prstGeom prst="rect">
            <a:avLst/>
          </a:prstGeom>
          <a:noFill/>
        </p:spPr>
        <p:txBody>
          <a:bodyPr wrap="square">
            <a:spAutoFit/>
          </a:bodyPr>
          <a:lstStyle/>
          <a:p>
            <a:r>
              <a:rPr lang="en-US" sz="1600" dirty="0"/>
              <a:t>Without knowing the specific sector in which the business might operate, such as insurance, public tenders, or other forms of risk and safety management, it is difficult to give the data proper weight.</a:t>
            </a:r>
          </a:p>
          <a:p>
            <a:endParaRPr lang="en-US" sz="1600" dirty="0"/>
          </a:p>
          <a:p>
            <a:r>
              <a:rPr lang="en-US" sz="1600" dirty="0"/>
              <a:t>The analysis revealed some limitations, but at the same time, it was possible to highlight:</a:t>
            </a:r>
          </a:p>
          <a:p>
            <a:pPr marL="285750" indent="-285750">
              <a:buFont typeface="Arial" panose="020B0604020202020204" pitchFamily="34" charset="0"/>
              <a:buChar char="•"/>
            </a:pPr>
            <a:r>
              <a:rPr lang="en-US" sz="1600" dirty="0"/>
              <a:t>provinces and municipalities that are more urbanized (e.g., a greater number of customers to whom insurance products can be sold or lower local tax revenues for repairs and maintenance)</a:t>
            </a:r>
          </a:p>
          <a:p>
            <a:pPr marL="285750" indent="-285750">
              <a:buFont typeface="Arial" panose="020B0604020202020204" pitchFamily="34" charset="0"/>
              <a:buChar char="•"/>
            </a:pPr>
            <a:r>
              <a:rPr lang="en-US" sz="1600" dirty="0"/>
              <a:t>provinces and municipalities with a higher accident rate (greater impact of public and private interventions)</a:t>
            </a:r>
          </a:p>
          <a:p>
            <a:pPr marL="285750" indent="-285750">
              <a:buFont typeface="Arial" panose="020B0604020202020204" pitchFamily="34" charset="0"/>
              <a:buChar char="•"/>
            </a:pPr>
            <a:r>
              <a:rPr lang="en-US" sz="1600" dirty="0"/>
              <a:t>provinces and municipalities with a high accident severity rate (to establish a prioritization order)</a:t>
            </a:r>
          </a:p>
          <a:p>
            <a:endParaRPr lang="en-US" sz="1600" dirty="0"/>
          </a:p>
          <a:p>
            <a:r>
              <a:rPr lang="en-US" sz="1600" dirty="0"/>
              <a:t>Therefore, I preferred to leave the data free to explore.</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0" name="CasellaDiTesto 9">
            <a:extLst>
              <a:ext uri="{FF2B5EF4-FFF2-40B4-BE49-F238E27FC236}">
                <a16:creationId xmlns:a16="http://schemas.microsoft.com/office/drawing/2014/main" id="{1B4AB76C-15E4-921E-7E9F-D07DB4EB6AF2}"/>
              </a:ext>
            </a:extLst>
          </p:cNvPr>
          <p:cNvSpPr txBox="1"/>
          <p:nvPr/>
        </p:nvSpPr>
        <p:spPr>
          <a:xfrm>
            <a:off x="6096000" y="1388250"/>
            <a:ext cx="5072576" cy="369332"/>
          </a:xfrm>
          <a:prstGeom prst="rect">
            <a:avLst/>
          </a:prstGeom>
          <a:noFill/>
        </p:spPr>
        <p:txBody>
          <a:bodyPr wrap="square">
            <a:spAutoFit/>
          </a:bodyPr>
          <a:lstStyle/>
          <a:p>
            <a:r>
              <a:rPr lang="it-IT" sz="1800" b="1" i="0" spc="225" dirty="0">
                <a:solidFill>
                  <a:schemeClr val="accent2">
                    <a:lumMod val="50000"/>
                  </a:schemeClr>
                </a:solidFill>
                <a:effectLst/>
                <a:latin typeface="+mn-lt"/>
              </a:rPr>
              <a:t>Personal Takeaways</a:t>
            </a:r>
            <a:endParaRPr lang="it-IT" dirty="0">
              <a:solidFill>
                <a:schemeClr val="accent2">
                  <a:lumMod val="50000"/>
                </a:schemeClr>
              </a:solidFill>
            </a:endParaRPr>
          </a:p>
        </p:txBody>
      </p:sp>
      <p:sp>
        <p:nvSpPr>
          <p:cNvPr id="14" name="CasellaDiTesto 13">
            <a:extLst>
              <a:ext uri="{FF2B5EF4-FFF2-40B4-BE49-F238E27FC236}">
                <a16:creationId xmlns:a16="http://schemas.microsoft.com/office/drawing/2014/main" id="{3AE33E27-7B15-C8CF-F67D-5DF9C0AB2BC2}"/>
              </a:ext>
            </a:extLst>
          </p:cNvPr>
          <p:cNvSpPr txBox="1"/>
          <p:nvPr/>
        </p:nvSpPr>
        <p:spPr>
          <a:xfrm>
            <a:off x="6096000" y="1757581"/>
            <a:ext cx="5072576" cy="3046988"/>
          </a:xfrm>
          <a:prstGeom prst="rect">
            <a:avLst/>
          </a:prstGeom>
          <a:noFill/>
        </p:spPr>
        <p:txBody>
          <a:bodyPr wrap="square">
            <a:spAutoFit/>
          </a:bodyPr>
          <a:lstStyle/>
          <a:p>
            <a:r>
              <a:rPr lang="en-US" sz="1600" dirty="0"/>
              <a:t>It was my first major data analysis project, focusing on all the statistics (which I still don't fully master beyond an intuitive level).</a:t>
            </a:r>
          </a:p>
          <a:p>
            <a:endParaRPr lang="en-US" sz="1600" dirty="0"/>
          </a:p>
          <a:p>
            <a:r>
              <a:rPr lang="en-US" sz="1600" dirty="0"/>
              <a:t>Personal highlights were:</a:t>
            </a:r>
          </a:p>
          <a:p>
            <a:pPr marL="285750" indent="-285750">
              <a:buFont typeface="Arial" panose="020B0604020202020204" pitchFamily="34" charset="0"/>
              <a:buChar char="•"/>
            </a:pPr>
            <a:r>
              <a:rPr lang="en-US" sz="1600" dirty="0"/>
              <a:t>Researching data sources, their uses, and reading related documents;</a:t>
            </a:r>
          </a:p>
          <a:p>
            <a:pPr marL="285750" indent="-285750">
              <a:buFont typeface="Arial" panose="020B0604020202020204" pitchFamily="34" charset="0"/>
              <a:buChar char="•"/>
            </a:pPr>
            <a:r>
              <a:rPr lang="en-US" sz="1600" dirty="0"/>
              <a:t>The sense of satisfaction when data exploration finally reveals a possible direction to explore.</a:t>
            </a:r>
          </a:p>
          <a:p>
            <a:pPr marL="285750" indent="-285750">
              <a:buFont typeface="Arial" panose="020B0604020202020204" pitchFamily="34" charset="0"/>
              <a:buChar char="•"/>
            </a:pPr>
            <a:r>
              <a:rPr lang="en-US" sz="1600" dirty="0"/>
              <a:t>When data, statistics, and Python work come together on a </a:t>
            </a:r>
            <a:r>
              <a:rPr lang="en-US" sz="1600" dirty="0" err="1"/>
              <a:t>PowerBI</a:t>
            </a:r>
            <a:r>
              <a:rPr lang="en-US" sz="1600" dirty="0"/>
              <a:t> dashboard (I'm definitely more of a visual learner).</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411525439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969</Words>
  <Application>Microsoft Office PowerPoint</Application>
  <PresentationFormat>Widescreen</PresentationFormat>
  <Paragraphs>97</Paragraphs>
  <Slides>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vt:i4>
      </vt:variant>
    </vt:vector>
  </HeadingPairs>
  <TitlesOfParts>
    <vt:vector size="10" baseType="lpstr">
      <vt:lpstr>Aptos</vt:lpstr>
      <vt:lpstr>Aptos Display</vt:lpstr>
      <vt:lpstr>Arial</vt:lpstr>
      <vt:lpstr>Cascadia Code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Luigi Giannico</dc:creator>
  <cp:lastModifiedBy>Luigi Giannico</cp:lastModifiedBy>
  <cp:revision>3</cp:revision>
  <dcterms:created xsi:type="dcterms:W3CDTF">2026-10-17T21:17:10Z</dcterms:created>
  <dcterms:modified xsi:type="dcterms:W3CDTF">2026-10-17T23:21:55Z</dcterms:modified>
</cp:coreProperties>
</file>